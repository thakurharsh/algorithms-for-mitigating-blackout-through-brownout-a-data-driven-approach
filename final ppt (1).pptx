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4" r:id="rId4"/>
    <p:sldId id="259" r:id="rId5"/>
    <p:sldId id="260" r:id="rId6"/>
    <p:sldId id="261" r:id="rId7"/>
    <p:sldId id="262" r:id="rId8"/>
    <p:sldId id="263" r:id="rId9"/>
    <p:sldId id="264" r:id="rId10"/>
    <p:sldId id="265" r:id="rId11"/>
    <p:sldId id="295" r:id="rId12"/>
    <p:sldId id="266" r:id="rId13"/>
    <p:sldId id="267" r:id="rId14"/>
    <p:sldId id="268" r:id="rId15"/>
    <p:sldId id="269" r:id="rId16"/>
    <p:sldId id="270" r:id="rId17"/>
    <p:sldId id="271" r:id="rId18"/>
    <p:sldId id="272" r:id="rId19"/>
    <p:sldId id="273" r:id="rId20"/>
    <p:sldId id="274" r:id="rId21"/>
    <p:sldId id="277" r:id="rId22"/>
    <p:sldId id="275" r:id="rId23"/>
    <p:sldId id="278" r:id="rId24"/>
    <p:sldId id="276" r:id="rId25"/>
    <p:sldId id="279" r:id="rId26"/>
    <p:sldId id="280" r:id="rId27"/>
    <p:sldId id="283" r:id="rId28"/>
    <p:sldId id="281" r:id="rId29"/>
    <p:sldId id="284" r:id="rId30"/>
    <p:sldId id="282" r:id="rId31"/>
    <p:sldId id="285" r:id="rId32"/>
    <p:sldId id="286" r:id="rId33"/>
    <p:sldId id="287" r:id="rId34"/>
    <p:sldId id="288" r:id="rId35"/>
    <p:sldId id="289" r:id="rId36"/>
    <p:sldId id="290" r:id="rId37"/>
    <p:sldId id="291" r:id="rId38"/>
    <p:sldId id="292" r:id="rId39"/>
    <p:sldId id="293" r:id="rId40"/>
    <p:sldId id="298" r:id="rId41"/>
    <p:sldId id="300" r:id="rId42"/>
    <p:sldId id="296" r:id="rId43"/>
    <p:sldId id="299" r:id="rId44"/>
    <p:sldId id="297" r:id="rId45"/>
    <p:sldId id="301" r:id="rId46"/>
    <p:sldId id="302" r:id="rId47"/>
    <p:sldId id="304" r:id="rId48"/>
    <p:sldId id="305" r:id="rId49"/>
    <p:sldId id="308" r:id="rId50"/>
    <p:sldId id="309" r:id="rId51"/>
    <p:sldId id="30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245CF-12B5-2529-B95B-9B5C907F2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C77AC6-37C8-550D-70B7-87C8FDEB50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EB45D6-6BCF-544F-E68D-7F526B4B4E4B}"/>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77903595-9AA9-E06B-A78E-72A618AFB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16EFA-2BCD-93FF-8DD4-7A9D07FCD360}"/>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143155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9FAE1-B785-DB64-5663-1BA57DC0A3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3823A4-1AE6-8D27-0744-54E6043DBB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491DC-B7D3-296C-3251-8D5B59FE1CC8}"/>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D4DA1F42-0A3D-11B8-44C0-4F69381FD3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B87BE-740A-FB05-AC85-8224A1740361}"/>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731505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2A4D9-6163-C109-8937-1E1191FBBE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710538-2C32-857B-059E-9A2AC51740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4D6B84-6C5B-17C3-9621-994ACB01A879}"/>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2561306C-E7C5-F64E-FAA9-02B5765E46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D7B96-0DCF-0B08-5ACE-6340039EBD94}"/>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200225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D045-CD67-0817-A1F7-58F1C42750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FCBCAC-11B1-1425-2351-669154542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D6525-2D55-631D-B164-2AB65BA15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465857-BF2F-9D6E-41C7-5E22641FFEA6}"/>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6" name="Footer Placeholder 5">
            <a:extLst>
              <a:ext uri="{FF2B5EF4-FFF2-40B4-BE49-F238E27FC236}">
                <a16:creationId xmlns:a16="http://schemas.microsoft.com/office/drawing/2014/main" id="{564F688E-CE90-377D-5FFE-D5AB35DB52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A68DD1-BBCE-8F80-E2E4-AF53F39CAB5D}"/>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2541138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F684-7758-B37C-EC88-09F06D6AE6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26B3DD-7181-F746-1B42-196D27F375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441EA7-9834-7FB7-F413-35E00E821D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2EDE66-30EA-FE6C-E45D-D6A188595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04A1BF-58F2-4A5D-4701-D21FC09CDF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1C8CAE-2560-78D6-58B8-0AABA60E0DFE}"/>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8" name="Footer Placeholder 7">
            <a:extLst>
              <a:ext uri="{FF2B5EF4-FFF2-40B4-BE49-F238E27FC236}">
                <a16:creationId xmlns:a16="http://schemas.microsoft.com/office/drawing/2014/main" id="{F35B34F5-76CB-4ECF-51CF-A6C4AB6F77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C44C8C-635A-819F-A37B-E7017CF52BF4}"/>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32565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7D26F-BE86-FB0E-22F6-5E4DBE97CB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9D01E9-AE81-9EFD-558C-71B64A957D8A}"/>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4" name="Footer Placeholder 3">
            <a:extLst>
              <a:ext uri="{FF2B5EF4-FFF2-40B4-BE49-F238E27FC236}">
                <a16:creationId xmlns:a16="http://schemas.microsoft.com/office/drawing/2014/main" id="{3D3B716F-F501-9B01-84B5-AF3B770A9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E65B7B-7914-C3FA-2A48-E7F1A220EDFC}"/>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3031642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6A07BC-15C3-F96F-C221-CD36EDC6B6E7}"/>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3" name="Footer Placeholder 2">
            <a:extLst>
              <a:ext uri="{FF2B5EF4-FFF2-40B4-BE49-F238E27FC236}">
                <a16:creationId xmlns:a16="http://schemas.microsoft.com/office/drawing/2014/main" id="{01EFB90F-6FFD-9AE2-9D8E-CFDD8D8D69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C4E9FC-90A9-57DF-6B32-D4AD5C99D92B}"/>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199710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717FF-DF6C-06C5-F9D7-14EEF7A86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0BD602-E876-C5C6-5ED1-67958510C5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343214-7E4D-AB22-3F3B-0B950B5A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DB286-EA31-AD92-502F-056CAC50D4D8}"/>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6" name="Footer Placeholder 5">
            <a:extLst>
              <a:ext uri="{FF2B5EF4-FFF2-40B4-BE49-F238E27FC236}">
                <a16:creationId xmlns:a16="http://schemas.microsoft.com/office/drawing/2014/main" id="{9045D50D-8D21-D355-C3FD-07F6930F1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B28AAB-A3DE-909C-3C66-0FC304CA2DB5}"/>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406290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26E33-6EC4-1FBD-F9AD-B9A71599B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9B4E0E-5F1D-FC55-152E-C6A3E4AFD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926B16-C959-3AD4-43A1-3A51D8C92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2882F-9FA0-F652-F515-B945E04BAC2C}"/>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6" name="Footer Placeholder 5">
            <a:extLst>
              <a:ext uri="{FF2B5EF4-FFF2-40B4-BE49-F238E27FC236}">
                <a16:creationId xmlns:a16="http://schemas.microsoft.com/office/drawing/2014/main" id="{66D64AEC-DA92-D8F2-A7DF-E0EBF7E7E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CC99AC-7009-51D5-8CE3-B331FAC9F79D}"/>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1374627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B49AE-DC7B-2527-DB64-45814C9635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B36D61-7F82-A486-39C1-E6056BBE42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30F45-1990-E6FF-DAFA-9D8F3B32885A}"/>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BE9E485B-708A-A9A2-A835-ADEF602F7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D6F12-3A11-334B-A9A6-6648D429A306}"/>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2833544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8A8E2E-1292-DB25-D859-C48782D54C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CF26D1-7851-C412-0635-EFD96A128E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58BFD4-8DDB-D149-9841-4CA792BEDD30}"/>
              </a:ext>
            </a:extLst>
          </p:cNvPr>
          <p:cNvSpPr>
            <a:spLocks noGrp="1"/>
          </p:cNvSpPr>
          <p:nvPr>
            <p:ph type="dt" sz="half" idx="10"/>
          </p:nvPr>
        </p:nvSpPr>
        <p:spPr/>
        <p:txBody>
          <a:body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25E0F74E-E307-9187-061D-7BEC9D7EBC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B842DD-F968-A1EE-DA08-594BE0DD1239}"/>
              </a:ext>
            </a:extLst>
          </p:cNvPr>
          <p:cNvSpPr>
            <a:spLocks noGrp="1"/>
          </p:cNvSpPr>
          <p:nvPr>
            <p:ph type="sldNum" sz="quarter" idx="12"/>
          </p:nvPr>
        </p:nvSpPr>
        <p:spPr/>
        <p:txBody>
          <a:bodyPr/>
          <a:lstStyle/>
          <a:p>
            <a:fld id="{39A4B03F-A0A9-4A2A-AB38-82394F963202}" type="slidenum">
              <a:rPr lang="en-US" smtClean="0"/>
              <a:t>‹#›</a:t>
            </a:fld>
            <a:endParaRPr lang="en-US"/>
          </a:p>
        </p:txBody>
      </p:sp>
    </p:spTree>
    <p:extLst>
      <p:ext uri="{BB962C8B-B14F-4D97-AF65-F5344CB8AC3E}">
        <p14:creationId xmlns:p14="http://schemas.microsoft.com/office/powerpoint/2010/main" val="981781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BE5DB-5F99-40EF-3D4C-91E4756017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A95411-7F3D-54AD-109E-B869A813B1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402A51-4579-7443-2576-534C023517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BA801B-2AEE-4237-A510-1A3D38194367}" type="datetimeFigureOut">
              <a:rPr lang="en-US" smtClean="0"/>
              <a:t>6/26/2023</a:t>
            </a:fld>
            <a:endParaRPr lang="en-US"/>
          </a:p>
        </p:txBody>
      </p:sp>
      <p:sp>
        <p:nvSpPr>
          <p:cNvPr id="5" name="Footer Placeholder 4">
            <a:extLst>
              <a:ext uri="{FF2B5EF4-FFF2-40B4-BE49-F238E27FC236}">
                <a16:creationId xmlns:a16="http://schemas.microsoft.com/office/drawing/2014/main" id="{6FC71D08-80DD-5272-4F86-E0D53A87B3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4A7481-BF07-1537-A84A-AE1962505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4B03F-A0A9-4A2A-AB38-82394F963202}" type="slidenum">
              <a:rPr lang="en-US" smtClean="0"/>
              <a:t>‹#›</a:t>
            </a:fld>
            <a:endParaRPr lang="en-US"/>
          </a:p>
        </p:txBody>
      </p:sp>
    </p:spTree>
    <p:extLst>
      <p:ext uri="{BB962C8B-B14F-4D97-AF65-F5344CB8AC3E}">
        <p14:creationId xmlns:p14="http://schemas.microsoft.com/office/powerpoint/2010/main" val="2110100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hyperlink" Target="https://ideas.repec.org/a/eee/renene/v86y2016icp1372-1379.html"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E42CCB8-EEBE-C82A-C92E-3A2F2D8FC5A7}"/>
              </a:ext>
            </a:extLst>
          </p:cNvPr>
          <p:cNvSpPr>
            <a:spLocks noGrp="1"/>
          </p:cNvSpPr>
          <p:nvPr>
            <p:ph type="subTitle" idx="1"/>
          </p:nvPr>
        </p:nvSpPr>
        <p:spPr>
          <a:xfrm>
            <a:off x="1524000" y="734551"/>
            <a:ext cx="9144000" cy="1655762"/>
          </a:xfrm>
        </p:spPr>
        <p:txBody>
          <a:bodyPr>
            <a:noAutofit/>
          </a:bodyPr>
          <a:lstStyle/>
          <a:p>
            <a:r>
              <a:rPr lang="en-US" sz="4000" dirty="0">
                <a:uFill>
                  <a:solidFill>
                    <a:srgbClr val="FF00FF"/>
                  </a:solidFill>
                </a:uFill>
              </a:rPr>
              <a:t>EXPLORING ALGORITHMS FOR MITIGATING BLACKOUT THROUGH BROWNOUT</a:t>
            </a:r>
            <a:endParaRPr lang="en-US" sz="4000" dirty="0"/>
          </a:p>
        </p:txBody>
      </p:sp>
      <p:pic>
        <p:nvPicPr>
          <p:cNvPr id="8" name="Picture 7">
            <a:extLst>
              <a:ext uri="{FF2B5EF4-FFF2-40B4-BE49-F238E27FC236}">
                <a16:creationId xmlns:a16="http://schemas.microsoft.com/office/drawing/2014/main" id="{EF446680-96FE-0AB2-8649-A12083C03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1" y="2770341"/>
            <a:ext cx="5092039" cy="3394693"/>
          </a:xfrm>
          <a:prstGeom prst="rect">
            <a:avLst/>
          </a:prstGeom>
        </p:spPr>
      </p:pic>
      <p:sp>
        <p:nvSpPr>
          <p:cNvPr id="9" name="Arrow: Right 8">
            <a:extLst>
              <a:ext uri="{FF2B5EF4-FFF2-40B4-BE49-F238E27FC236}">
                <a16:creationId xmlns:a16="http://schemas.microsoft.com/office/drawing/2014/main" id="{457AD7A9-DAE8-7A60-5553-85E94E4946AA}"/>
              </a:ext>
            </a:extLst>
          </p:cNvPr>
          <p:cNvSpPr/>
          <p:nvPr/>
        </p:nvSpPr>
        <p:spPr>
          <a:xfrm>
            <a:off x="5182780" y="4192941"/>
            <a:ext cx="1482897" cy="5085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2D58FEB-08F2-3CA8-97EF-228F3EFE3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5677" y="2770341"/>
            <a:ext cx="5435581" cy="3353753"/>
          </a:xfrm>
          <a:prstGeom prst="rect">
            <a:avLst/>
          </a:prstGeom>
        </p:spPr>
      </p:pic>
    </p:spTree>
    <p:extLst>
      <p:ext uri="{BB962C8B-B14F-4D97-AF65-F5344CB8AC3E}">
        <p14:creationId xmlns:p14="http://schemas.microsoft.com/office/powerpoint/2010/main" val="311981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DEDE56-7A1B-0861-9CDD-99864EDE4F2C}"/>
              </a:ext>
            </a:extLst>
          </p:cNvPr>
          <p:cNvSpPr txBox="1"/>
          <p:nvPr/>
        </p:nvSpPr>
        <p:spPr>
          <a:xfrm>
            <a:off x="164983" y="762153"/>
            <a:ext cx="11862033" cy="5878532"/>
          </a:xfrm>
          <a:prstGeom prst="rect">
            <a:avLst/>
          </a:prstGeom>
          <a:noFill/>
        </p:spPr>
        <p:txBody>
          <a:bodyPr wrap="square">
            <a:spAutoFit/>
          </a:bodyPr>
          <a:lstStyle/>
          <a:p>
            <a:pPr marL="457200" indent="-457200" algn="just">
              <a:buFont typeface="Arial" panose="020B0604020202020204" pitchFamily="34" charset="0"/>
              <a:buChar char="•"/>
            </a:pPr>
            <a:r>
              <a:rPr lang="en-US" sz="2600" dirty="0"/>
              <a:t>Unpredictable Demand- A rapid rise in power consumption as compared to power generation is being observed in present times.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i="0" dirty="0">
                <a:effectLst/>
                <a:cs typeface="Calibri" panose="020F0502020204030204" pitchFamily="34" charset="0"/>
              </a:rPr>
              <a:t>Frequent power </a:t>
            </a:r>
            <a:r>
              <a:rPr lang="en-US" sz="2600" i="0" dirty="0">
                <a:effectLst/>
              </a:rPr>
              <a:t>outages- Utilities mostly in developing nations, adopt a naive approach of reducing the demand by rolling blackouts.</a:t>
            </a:r>
          </a:p>
          <a:p>
            <a:pPr marL="457200" indent="-457200" algn="just">
              <a:buFont typeface="Arial" panose="020B0604020202020204" pitchFamily="34" charset="0"/>
              <a:buChar char="•"/>
            </a:pPr>
            <a:endParaRPr lang="en-US" i="0" dirty="0">
              <a:effectLst/>
            </a:endParaRPr>
          </a:p>
          <a:p>
            <a:pPr marL="457200" indent="-457200" algn="just">
              <a:buFont typeface="Arial" panose="020B0604020202020204" pitchFamily="34" charset="0"/>
              <a:buChar char="•"/>
            </a:pPr>
            <a:r>
              <a:rPr lang="en-US" sz="2600" i="0" dirty="0">
                <a:effectLst/>
              </a:rPr>
              <a:t>However, this approach leads to user </a:t>
            </a:r>
            <a:r>
              <a:rPr lang="en-US" sz="2600" b="0" i="0" dirty="0">
                <a:effectLst/>
              </a:rPr>
              <a:t>inconvenience</a:t>
            </a:r>
            <a:r>
              <a:rPr lang="en-US" sz="2600" dirty="0"/>
              <a:t>.</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Dependence on Non renewable resources-To meet the required power demand during hours of peak consumption power is generated from non-renewable resources like fossil fuels.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Lack of infrastructure-Many developing countries do not have infrastructure to satisfy these rising demands.</a:t>
            </a:r>
          </a:p>
          <a:p>
            <a:pPr algn="just"/>
            <a:endParaRPr lang="en-US" dirty="0">
              <a:solidFill>
                <a:schemeClr val="bg1"/>
              </a:solidFill>
            </a:endParaRPr>
          </a:p>
          <a:p>
            <a:pPr algn="just"/>
            <a:endParaRPr lang="en-US" dirty="0">
              <a:solidFill>
                <a:schemeClr val="bg1"/>
              </a:solidFill>
            </a:endParaRPr>
          </a:p>
        </p:txBody>
      </p:sp>
      <p:sp>
        <p:nvSpPr>
          <p:cNvPr id="5" name="TextBox 4">
            <a:extLst>
              <a:ext uri="{FF2B5EF4-FFF2-40B4-BE49-F238E27FC236}">
                <a16:creationId xmlns:a16="http://schemas.microsoft.com/office/drawing/2014/main" id="{B7734DB3-C31F-C2B3-D5EE-BE5AF9BC2CB7}"/>
              </a:ext>
            </a:extLst>
          </p:cNvPr>
          <p:cNvSpPr txBox="1"/>
          <p:nvPr/>
        </p:nvSpPr>
        <p:spPr>
          <a:xfrm>
            <a:off x="612396" y="92171"/>
            <a:ext cx="10427516" cy="553998"/>
          </a:xfrm>
          <a:prstGeom prst="rect">
            <a:avLst/>
          </a:prstGeom>
          <a:noFill/>
        </p:spPr>
        <p:txBody>
          <a:bodyPr wrap="square">
            <a:spAutoFit/>
          </a:bodyPr>
          <a:lstStyle/>
          <a:p>
            <a:pPr algn="ctr"/>
            <a:r>
              <a:rPr lang="en-US" sz="3000" b="1" dirty="0"/>
              <a:t>Issues Existing in Power Distribution</a:t>
            </a:r>
            <a:endParaRPr lang="en-US" sz="3000" dirty="0"/>
          </a:p>
        </p:txBody>
      </p:sp>
    </p:spTree>
    <p:extLst>
      <p:ext uri="{BB962C8B-B14F-4D97-AF65-F5344CB8AC3E}">
        <p14:creationId xmlns:p14="http://schemas.microsoft.com/office/powerpoint/2010/main" val="2624767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F5EBA-AB3B-BD22-82D7-0D7831E06596}"/>
              </a:ext>
            </a:extLst>
          </p:cNvPr>
          <p:cNvSpPr>
            <a:spLocks noGrp="1"/>
          </p:cNvSpPr>
          <p:nvPr>
            <p:ph type="title"/>
          </p:nvPr>
        </p:nvSpPr>
        <p:spPr>
          <a:xfrm>
            <a:off x="776056" y="18255"/>
            <a:ext cx="10515600" cy="1325563"/>
          </a:xfrm>
        </p:spPr>
        <p:txBody>
          <a:bodyPr>
            <a:normAutofit/>
          </a:bodyPr>
          <a:lstStyle/>
          <a:p>
            <a:pPr algn="ctr"/>
            <a:r>
              <a:rPr lang="en-US" sz="3000" b="1" dirty="0">
                <a:latin typeface="+mn-lt"/>
              </a:rPr>
              <a:t>Blackout</a:t>
            </a:r>
          </a:p>
        </p:txBody>
      </p:sp>
      <p:sp>
        <p:nvSpPr>
          <p:cNvPr id="3" name="Content Placeholder 2">
            <a:extLst>
              <a:ext uri="{FF2B5EF4-FFF2-40B4-BE49-F238E27FC236}">
                <a16:creationId xmlns:a16="http://schemas.microsoft.com/office/drawing/2014/main" id="{A3A8D055-CD28-B126-45DA-3861EB53900C}"/>
              </a:ext>
            </a:extLst>
          </p:cNvPr>
          <p:cNvSpPr>
            <a:spLocks noGrp="1"/>
          </p:cNvSpPr>
          <p:nvPr>
            <p:ph idx="1"/>
          </p:nvPr>
        </p:nvSpPr>
        <p:spPr>
          <a:xfrm>
            <a:off x="838200" y="1079899"/>
            <a:ext cx="10685016" cy="5759845"/>
          </a:xfrm>
        </p:spPr>
        <p:txBody>
          <a:bodyPr>
            <a:normAutofit/>
          </a:bodyPr>
          <a:lstStyle/>
          <a:p>
            <a:r>
              <a:rPr lang="en-US" sz="2600" b="0" i="0" dirty="0">
                <a:effectLst/>
              </a:rPr>
              <a:t>A </a:t>
            </a:r>
            <a:r>
              <a:rPr lang="en-US" sz="2600" b="1" i="0" dirty="0">
                <a:effectLst/>
              </a:rPr>
              <a:t>blackout</a:t>
            </a:r>
            <a:r>
              <a:rPr lang="en-US" sz="2600" b="0" i="0" dirty="0">
                <a:effectLst/>
              </a:rPr>
              <a:t> is a total crash of the </a:t>
            </a:r>
            <a:r>
              <a:rPr lang="en-US" sz="2600" b="1" i="0" dirty="0">
                <a:effectLst/>
              </a:rPr>
              <a:t>power</a:t>
            </a:r>
            <a:r>
              <a:rPr lang="en-US" sz="2600" b="0" i="0" dirty="0">
                <a:effectLst/>
              </a:rPr>
              <a:t> grid due to an imbalance between </a:t>
            </a:r>
            <a:r>
              <a:rPr lang="en-US" sz="2600" b="1" i="0" dirty="0">
                <a:effectLst/>
              </a:rPr>
              <a:t>power</a:t>
            </a:r>
            <a:r>
              <a:rPr lang="en-US" sz="2600" b="0" i="0" dirty="0">
                <a:effectLst/>
              </a:rPr>
              <a:t> generation and </a:t>
            </a:r>
            <a:r>
              <a:rPr lang="en-US" sz="2600" b="1" i="0" dirty="0">
                <a:effectLst/>
              </a:rPr>
              <a:t>power</a:t>
            </a:r>
            <a:r>
              <a:rPr lang="en-US" sz="2600" b="0" i="0" dirty="0">
                <a:effectLst/>
              </a:rPr>
              <a:t> consumption.</a:t>
            </a:r>
          </a:p>
          <a:p>
            <a:endParaRPr lang="en-US" dirty="0"/>
          </a:p>
          <a:p>
            <a:endParaRPr lang="en-US" b="0" i="0" dirty="0">
              <a:effectLst/>
            </a:endParaRPr>
          </a:p>
          <a:p>
            <a:endParaRPr lang="en-US" dirty="0"/>
          </a:p>
          <a:p>
            <a:endParaRPr lang="en-US" b="0" i="0" dirty="0">
              <a:effectLst/>
            </a:endParaRPr>
          </a:p>
          <a:p>
            <a:endParaRPr lang="en-US" dirty="0"/>
          </a:p>
          <a:p>
            <a:endParaRPr lang="en-US" b="0" i="0" dirty="0">
              <a:effectLst/>
            </a:endParaRPr>
          </a:p>
          <a:p>
            <a:endParaRPr lang="en-US" dirty="0"/>
          </a:p>
          <a:p>
            <a:endParaRPr lang="en-US" b="0" i="0" dirty="0">
              <a:effectLst/>
            </a:endParaRPr>
          </a:p>
          <a:p>
            <a:r>
              <a:rPr lang="en-US" sz="2600" dirty="0"/>
              <a:t>A blackout is also known as loss of electricity or power outage.</a:t>
            </a:r>
          </a:p>
          <a:p>
            <a:endParaRPr lang="en-US" b="0" i="0" dirty="0">
              <a:effectLst/>
            </a:endParaRPr>
          </a:p>
          <a:p>
            <a:endParaRPr lang="en-US" dirty="0"/>
          </a:p>
          <a:p>
            <a:pPr marL="0" indent="0">
              <a:buNone/>
            </a:pPr>
            <a:endParaRPr lang="en-US" b="0" i="0" dirty="0">
              <a:effectLst/>
            </a:endParaRPr>
          </a:p>
          <a:p>
            <a:endParaRPr lang="en-US" b="0" i="0" dirty="0">
              <a:effectLst/>
            </a:endParaRPr>
          </a:p>
          <a:p>
            <a:endParaRPr lang="en-US" dirty="0"/>
          </a:p>
        </p:txBody>
      </p:sp>
      <p:pic>
        <p:nvPicPr>
          <p:cNvPr id="1028" name="Picture 4" descr="Watch Blackout | American Experience | Official Site | PBS">
            <a:extLst>
              <a:ext uri="{FF2B5EF4-FFF2-40B4-BE49-F238E27FC236}">
                <a16:creationId xmlns:a16="http://schemas.microsoft.com/office/drawing/2014/main" id="{FF80FA4C-6D1D-18AD-1F05-5F8E14D417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447" y="1928520"/>
            <a:ext cx="6843698" cy="3849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888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4A7646-A596-5E80-4005-0CF5A12581B3}"/>
              </a:ext>
            </a:extLst>
          </p:cNvPr>
          <p:cNvSpPr txBox="1"/>
          <p:nvPr/>
        </p:nvSpPr>
        <p:spPr>
          <a:xfrm>
            <a:off x="3517085" y="310285"/>
            <a:ext cx="6094602" cy="553998"/>
          </a:xfrm>
          <a:prstGeom prst="rect">
            <a:avLst/>
          </a:prstGeom>
          <a:noFill/>
        </p:spPr>
        <p:txBody>
          <a:bodyPr wrap="square">
            <a:spAutoFit/>
          </a:bodyPr>
          <a:lstStyle/>
          <a:p>
            <a:pPr algn="ctr"/>
            <a:r>
              <a:rPr lang="en-US" sz="3000" b="1" dirty="0"/>
              <a:t>Problems caused by blackouts</a:t>
            </a:r>
            <a:endParaRPr lang="en-US" sz="3000" dirty="0"/>
          </a:p>
        </p:txBody>
      </p:sp>
      <p:sp>
        <p:nvSpPr>
          <p:cNvPr id="5" name="TextBox 4">
            <a:extLst>
              <a:ext uri="{FF2B5EF4-FFF2-40B4-BE49-F238E27FC236}">
                <a16:creationId xmlns:a16="http://schemas.microsoft.com/office/drawing/2014/main" id="{61037A4B-D213-C039-D6A9-7822D7BC08CB}"/>
              </a:ext>
            </a:extLst>
          </p:cNvPr>
          <p:cNvSpPr txBox="1"/>
          <p:nvPr/>
        </p:nvSpPr>
        <p:spPr>
          <a:xfrm>
            <a:off x="479571" y="1291904"/>
            <a:ext cx="11232858" cy="2923877"/>
          </a:xfrm>
          <a:prstGeom prst="rect">
            <a:avLst/>
          </a:prstGeom>
          <a:noFill/>
        </p:spPr>
        <p:txBody>
          <a:bodyPr wrap="square">
            <a:spAutoFit/>
          </a:bodyPr>
          <a:lstStyle/>
          <a:p>
            <a:pPr marL="0" indent="0" algn="just">
              <a:buNone/>
            </a:pPr>
            <a:r>
              <a:rPr lang="en-US" sz="2600" b="0" i="0" dirty="0">
                <a:effectLst/>
              </a:rPr>
              <a:t>Blackout leads to –</a:t>
            </a:r>
          </a:p>
          <a:p>
            <a:pPr marL="0" indent="0" algn="just">
              <a:buNone/>
            </a:pPr>
            <a:endParaRPr lang="en-US" b="0" i="0" dirty="0">
              <a:effectLst/>
            </a:endParaRPr>
          </a:p>
          <a:p>
            <a:pPr marL="457200" indent="-457200" algn="just">
              <a:buFont typeface="Arial" panose="020B0604020202020204" pitchFamily="34" charset="0"/>
              <a:buChar char="•"/>
            </a:pPr>
            <a:r>
              <a:rPr lang="en-US" sz="2600" dirty="0"/>
              <a:t>H</a:t>
            </a:r>
            <a:r>
              <a:rPr lang="en-US" sz="2600" b="0" i="0" dirty="0">
                <a:effectLst/>
              </a:rPr>
              <a:t>eavy economic losses.</a:t>
            </a:r>
          </a:p>
          <a:p>
            <a:pPr marL="457200" indent="-457200" algn="just">
              <a:buFont typeface="Arial" panose="020B0604020202020204" pitchFamily="34" charset="0"/>
              <a:buChar char="•"/>
            </a:pPr>
            <a:endParaRPr lang="en-US" b="0" i="0" dirty="0">
              <a:effectLst/>
            </a:endParaRPr>
          </a:p>
          <a:p>
            <a:pPr marL="457200" indent="-457200" algn="just">
              <a:buFont typeface="Arial" panose="020B0604020202020204" pitchFamily="34" charset="0"/>
              <a:buChar char="•"/>
            </a:pPr>
            <a:r>
              <a:rPr lang="en-US" sz="2600" dirty="0"/>
              <a:t>P</a:t>
            </a:r>
            <a:r>
              <a:rPr lang="en-US" sz="2600" b="0" i="0" dirty="0">
                <a:effectLst/>
              </a:rPr>
              <a:t>ower system equipment damage.</a:t>
            </a:r>
          </a:p>
          <a:p>
            <a:pPr marL="457200" indent="-457200" algn="just">
              <a:buFont typeface="Arial" panose="020B0604020202020204" pitchFamily="34" charset="0"/>
              <a:buChar char="•"/>
            </a:pPr>
            <a:endParaRPr lang="en-US" b="0" i="0" dirty="0">
              <a:effectLst/>
            </a:endParaRPr>
          </a:p>
          <a:p>
            <a:pPr marL="457200" indent="-457200" algn="just">
              <a:buFont typeface="Arial" panose="020B0604020202020204" pitchFamily="34" charset="0"/>
              <a:buChar char="•"/>
            </a:pPr>
            <a:r>
              <a:rPr lang="en-US" sz="2600" dirty="0"/>
              <a:t>W</a:t>
            </a:r>
            <a:r>
              <a:rPr lang="en-US" sz="2600" b="0" i="0" dirty="0">
                <a:effectLst/>
              </a:rPr>
              <a:t>ide effect on livelihood. This is so because the living is fully dependent on reliable and quality power system. </a:t>
            </a:r>
            <a:endParaRPr lang="en-US" sz="2600" dirty="0"/>
          </a:p>
        </p:txBody>
      </p:sp>
    </p:spTree>
    <p:extLst>
      <p:ext uri="{BB962C8B-B14F-4D97-AF65-F5344CB8AC3E}">
        <p14:creationId xmlns:p14="http://schemas.microsoft.com/office/powerpoint/2010/main" val="1733121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C47F8D-31DF-39BB-CED1-89763A513AC0}"/>
              </a:ext>
            </a:extLst>
          </p:cNvPr>
          <p:cNvSpPr txBox="1"/>
          <p:nvPr/>
        </p:nvSpPr>
        <p:spPr>
          <a:xfrm>
            <a:off x="1493240" y="301896"/>
            <a:ext cx="8800052" cy="553998"/>
          </a:xfrm>
          <a:prstGeom prst="rect">
            <a:avLst/>
          </a:prstGeom>
          <a:noFill/>
        </p:spPr>
        <p:txBody>
          <a:bodyPr wrap="square">
            <a:spAutoFit/>
          </a:bodyPr>
          <a:lstStyle/>
          <a:p>
            <a:pPr algn="ctr"/>
            <a:r>
              <a:rPr lang="en-US" sz="3000" b="1" dirty="0"/>
              <a:t>Approaches Previously used for mitigating Blackout?</a:t>
            </a:r>
            <a:endParaRPr lang="en-US" sz="3000" dirty="0"/>
          </a:p>
        </p:txBody>
      </p:sp>
      <p:sp>
        <p:nvSpPr>
          <p:cNvPr id="4" name="TextBox 3">
            <a:extLst>
              <a:ext uri="{FF2B5EF4-FFF2-40B4-BE49-F238E27FC236}">
                <a16:creationId xmlns:a16="http://schemas.microsoft.com/office/drawing/2014/main" id="{1692AC2D-F914-DDDD-E101-4973491DAA83}"/>
              </a:ext>
            </a:extLst>
          </p:cNvPr>
          <p:cNvSpPr txBox="1"/>
          <p:nvPr/>
        </p:nvSpPr>
        <p:spPr>
          <a:xfrm>
            <a:off x="360727" y="1115736"/>
            <a:ext cx="11409027" cy="5078313"/>
          </a:xfrm>
          <a:prstGeom prst="rect">
            <a:avLst/>
          </a:prstGeom>
          <a:noFill/>
        </p:spPr>
        <p:txBody>
          <a:bodyPr wrap="square" rtlCol="0">
            <a:spAutoFit/>
          </a:bodyPr>
          <a:lstStyle/>
          <a:p>
            <a:pPr marL="457200" indent="-457200" algn="just">
              <a:buFont typeface="Arial" panose="020B0604020202020204" pitchFamily="34" charset="0"/>
              <a:buChar char="•"/>
            </a:pPr>
            <a:r>
              <a:rPr lang="en-US" sz="2600" dirty="0"/>
              <a:t>Load shifting.</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Using uninterrupted power supply (UPS) to store energy during period of less demand and using it during peak demand hours.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Deactivating few micro-services.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People have used voltage reduction in the past, but using voltage reduction which may lead to damage to appliances and it may lead to damage to circuit breakers.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 Thus, we propose a more pragmatic solution of brownout which involves fair allocation of power limits to the consumers.</a:t>
            </a:r>
          </a:p>
          <a:p>
            <a:pPr algn="just"/>
            <a:endParaRPr lang="en-US" dirty="0"/>
          </a:p>
        </p:txBody>
      </p:sp>
    </p:spTree>
    <p:extLst>
      <p:ext uri="{BB962C8B-B14F-4D97-AF65-F5344CB8AC3E}">
        <p14:creationId xmlns:p14="http://schemas.microsoft.com/office/powerpoint/2010/main" val="59567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05C8E3-36A5-D831-F109-685FAC42A7A3}"/>
              </a:ext>
            </a:extLst>
          </p:cNvPr>
          <p:cNvSpPr txBox="1"/>
          <p:nvPr/>
        </p:nvSpPr>
        <p:spPr>
          <a:xfrm>
            <a:off x="3048699" y="134116"/>
            <a:ext cx="6094602" cy="553998"/>
          </a:xfrm>
          <a:prstGeom prst="rect">
            <a:avLst/>
          </a:prstGeom>
          <a:noFill/>
        </p:spPr>
        <p:txBody>
          <a:bodyPr wrap="square">
            <a:spAutoFit/>
          </a:bodyPr>
          <a:lstStyle/>
          <a:p>
            <a:pPr algn="ctr"/>
            <a:r>
              <a:rPr lang="en-US" sz="3000" b="1" dirty="0"/>
              <a:t>Brownout</a:t>
            </a:r>
            <a:endParaRPr lang="en-US" sz="3000" dirty="0"/>
          </a:p>
        </p:txBody>
      </p:sp>
      <p:sp>
        <p:nvSpPr>
          <p:cNvPr id="4" name="TextBox 3">
            <a:extLst>
              <a:ext uri="{FF2B5EF4-FFF2-40B4-BE49-F238E27FC236}">
                <a16:creationId xmlns:a16="http://schemas.microsoft.com/office/drawing/2014/main" id="{A3C50CD2-FD78-D381-E5D2-09BDB0B5FEB9}"/>
              </a:ext>
            </a:extLst>
          </p:cNvPr>
          <p:cNvSpPr txBox="1"/>
          <p:nvPr/>
        </p:nvSpPr>
        <p:spPr>
          <a:xfrm>
            <a:off x="184558" y="688114"/>
            <a:ext cx="11803309" cy="6001643"/>
          </a:xfrm>
          <a:prstGeom prst="rect">
            <a:avLst/>
          </a:prstGeom>
          <a:noFill/>
        </p:spPr>
        <p:txBody>
          <a:bodyPr wrap="square" rtlCol="0">
            <a:spAutoFit/>
          </a:bodyPr>
          <a:lstStyle/>
          <a:p>
            <a:pPr marL="457200" indent="-457200" algn="just">
              <a:buFont typeface="Arial" panose="020B0604020202020204" pitchFamily="34" charset="0"/>
              <a:buChar char="•"/>
            </a:pPr>
            <a:r>
              <a:rPr lang="en-US" sz="2600" i="0" dirty="0">
                <a:effectLst/>
                <a:cs typeface="Arial" panose="020B0604020202020204" pitchFamily="34" charset="0"/>
              </a:rPr>
              <a:t>A </a:t>
            </a:r>
            <a:r>
              <a:rPr lang="en-US" sz="2600" dirty="0">
                <a:effectLst/>
                <a:cs typeface="Arial" panose="020B0604020202020204" pitchFamily="34" charset="0"/>
              </a:rPr>
              <a:t>brownout</a:t>
            </a:r>
            <a:r>
              <a:rPr lang="en-US" sz="2600" i="0" dirty="0">
                <a:effectLst/>
                <a:cs typeface="Arial" panose="020B0604020202020204" pitchFamily="34" charset="0"/>
              </a:rPr>
              <a:t> is like a blackout just not as bad.</a:t>
            </a:r>
          </a:p>
          <a:p>
            <a:pPr marL="457200" indent="-457200" algn="just">
              <a:buFont typeface="Arial" panose="020B0604020202020204" pitchFamily="34" charset="0"/>
              <a:buChar char="•"/>
            </a:pPr>
            <a:endParaRPr lang="en-US" i="0" dirty="0">
              <a:effectLst/>
              <a:cs typeface="Arial" panose="020B0604020202020204" pitchFamily="34" charset="0"/>
            </a:endParaRPr>
          </a:p>
          <a:p>
            <a:pPr marL="457200" indent="-457200" algn="just">
              <a:buFont typeface="Arial" panose="020B0604020202020204" pitchFamily="34" charset="0"/>
              <a:buChar char="•"/>
            </a:pPr>
            <a:r>
              <a:rPr lang="en-US" sz="2600" i="0" dirty="0">
                <a:effectLst/>
                <a:cs typeface="Arial" panose="020B0604020202020204" pitchFamily="34" charset="0"/>
              </a:rPr>
              <a:t>A brownout is based on power consumption control.</a:t>
            </a:r>
          </a:p>
          <a:p>
            <a:pPr marL="457200" indent="-457200" algn="just">
              <a:buFont typeface="Arial" panose="020B0604020202020204" pitchFamily="34" charset="0"/>
              <a:buChar char="•"/>
            </a:pPr>
            <a:endParaRPr lang="en-US" i="0" dirty="0">
              <a:effectLst/>
              <a:cs typeface="Arial" panose="020B0604020202020204" pitchFamily="34" charset="0"/>
            </a:endParaRPr>
          </a:p>
          <a:p>
            <a:pPr marL="457200" indent="-457200" algn="just">
              <a:buFont typeface="Arial" panose="020B0604020202020204" pitchFamily="34" charset="0"/>
              <a:buChar char="•"/>
            </a:pPr>
            <a:r>
              <a:rPr lang="en-US" sz="2600" i="0" dirty="0">
                <a:effectLst/>
                <a:cs typeface="Arial" panose="020B0604020202020204" pitchFamily="34" charset="0"/>
              </a:rPr>
              <a:t>Where an electrical blackout means a loss of electricity, a </a:t>
            </a:r>
            <a:r>
              <a:rPr lang="en-US" sz="2600" dirty="0">
                <a:effectLst/>
                <a:cs typeface="Arial" panose="020B0604020202020204" pitchFamily="34" charset="0"/>
              </a:rPr>
              <a:t>brownout</a:t>
            </a:r>
            <a:r>
              <a:rPr lang="en-US" sz="2600" i="0" dirty="0">
                <a:effectLst/>
                <a:cs typeface="Arial" panose="020B0604020202020204" pitchFamily="34" charset="0"/>
              </a:rPr>
              <a:t> is a reduction in power. </a:t>
            </a:r>
          </a:p>
          <a:p>
            <a:pPr algn="just"/>
            <a:endParaRPr lang="en-US" dirty="0"/>
          </a:p>
          <a:p>
            <a:pPr marL="457200" indent="-457200" algn="just">
              <a:buFont typeface="Arial" panose="020B0604020202020204" pitchFamily="34" charset="0"/>
              <a:buChar char="•"/>
            </a:pPr>
            <a:r>
              <a:rPr lang="en-US" sz="2600" dirty="0"/>
              <a:t>Brownout is the process of modifying blackouts with the help of DSM to explore algorithms which can provide the most efficient power distribution.</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dirty="0"/>
              <a:t>In our implementation of Brownout we try to provide all user with some Power threshold. Where threshold is the maximum power limit.</a:t>
            </a:r>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endParaRPr lang="en-US" sz="2600" dirty="0"/>
          </a:p>
        </p:txBody>
      </p:sp>
    </p:spTree>
    <p:extLst>
      <p:ext uri="{BB962C8B-B14F-4D97-AF65-F5344CB8AC3E}">
        <p14:creationId xmlns:p14="http://schemas.microsoft.com/office/powerpoint/2010/main" val="422502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58D5BB-0D43-FE59-60C3-690615ABB492}"/>
              </a:ext>
            </a:extLst>
          </p:cNvPr>
          <p:cNvSpPr txBox="1"/>
          <p:nvPr/>
        </p:nvSpPr>
        <p:spPr>
          <a:xfrm>
            <a:off x="3048699" y="125727"/>
            <a:ext cx="6094602" cy="553998"/>
          </a:xfrm>
          <a:prstGeom prst="rect">
            <a:avLst/>
          </a:prstGeom>
          <a:noFill/>
        </p:spPr>
        <p:txBody>
          <a:bodyPr wrap="square">
            <a:spAutoFit/>
          </a:bodyPr>
          <a:lstStyle/>
          <a:p>
            <a:pPr algn="ctr"/>
            <a:r>
              <a:rPr lang="en-US" sz="3000" b="1" dirty="0"/>
              <a:t>Why Brownout?</a:t>
            </a:r>
            <a:endParaRPr lang="en-US" sz="3000" dirty="0"/>
          </a:p>
        </p:txBody>
      </p:sp>
      <p:sp>
        <p:nvSpPr>
          <p:cNvPr id="5" name="TextBox 4">
            <a:extLst>
              <a:ext uri="{FF2B5EF4-FFF2-40B4-BE49-F238E27FC236}">
                <a16:creationId xmlns:a16="http://schemas.microsoft.com/office/drawing/2014/main" id="{2C33AC03-F623-310B-ED72-2CB2642387F9}"/>
              </a:ext>
            </a:extLst>
          </p:cNvPr>
          <p:cNvSpPr txBox="1"/>
          <p:nvPr/>
        </p:nvSpPr>
        <p:spPr>
          <a:xfrm>
            <a:off x="511728" y="780177"/>
            <a:ext cx="11224470" cy="4401205"/>
          </a:xfrm>
          <a:prstGeom prst="rect">
            <a:avLst/>
          </a:prstGeom>
          <a:noFill/>
        </p:spPr>
        <p:txBody>
          <a:bodyPr wrap="square">
            <a:spAutoFit/>
          </a:bodyPr>
          <a:lstStyle/>
          <a:p>
            <a:pPr marL="285750" indent="-285750" algn="just">
              <a:buFont typeface="Arial" panose="020B0604020202020204" pitchFamily="34" charset="0"/>
              <a:buChar char="•"/>
            </a:pPr>
            <a:endParaRPr lang="en-US" b="0" i="0" dirty="0">
              <a:effectLst/>
            </a:endParaRPr>
          </a:p>
          <a:p>
            <a:pPr marL="457200" indent="-457200" algn="just">
              <a:buFont typeface="Arial" panose="020B0604020202020204" pitchFamily="34" charset="0"/>
              <a:buChar char="•"/>
            </a:pPr>
            <a:r>
              <a:rPr lang="en-US" sz="2600" dirty="0"/>
              <a:t>To reduce the inconvenience to users during blackouts.</a:t>
            </a:r>
          </a:p>
          <a:p>
            <a:pPr marL="457200" indent="-457200" algn="just">
              <a:buFont typeface="Arial" panose="020B0604020202020204" pitchFamily="34" charset="0"/>
              <a:buChar char="•"/>
            </a:pPr>
            <a:endParaRPr lang="en-US" dirty="0"/>
          </a:p>
          <a:p>
            <a:pPr marL="457200" indent="-457200" algn="just">
              <a:buFont typeface="Arial" panose="020B0604020202020204" pitchFamily="34" charset="0"/>
              <a:buChar char="•"/>
            </a:pPr>
            <a:r>
              <a:rPr lang="en-US" sz="2600" i="0" dirty="0">
                <a:effectLst/>
              </a:rPr>
              <a:t>To reduce starvation among consumers.</a:t>
            </a:r>
          </a:p>
          <a:p>
            <a:pPr marL="457200" indent="-457200" algn="just">
              <a:buFont typeface="Arial" panose="020B0604020202020204" pitchFamily="34" charset="0"/>
              <a:buChar char="•"/>
            </a:pPr>
            <a:endParaRPr lang="en-US" i="0" dirty="0">
              <a:effectLst/>
            </a:endParaRPr>
          </a:p>
          <a:p>
            <a:pPr marL="457200" indent="-457200" algn="just">
              <a:buFont typeface="Arial" panose="020B0604020202020204" pitchFamily="34" charset="0"/>
              <a:buChar char="•"/>
            </a:pPr>
            <a:r>
              <a:rPr lang="en-US" sz="2600" b="0" i="0" dirty="0">
                <a:effectLst/>
              </a:rPr>
              <a:t>Chances of appliances being </a:t>
            </a:r>
            <a:r>
              <a:rPr lang="en-US" sz="2600" dirty="0"/>
              <a:t>compromised is low as comparison to voltage reduction research.</a:t>
            </a:r>
          </a:p>
          <a:p>
            <a:pPr marL="457200" indent="-457200" algn="just">
              <a:buFont typeface="Arial" panose="020B0604020202020204" pitchFamily="34" charset="0"/>
              <a:buChar char="•"/>
            </a:pPr>
            <a:endParaRPr lang="en-US" b="0" i="0" dirty="0">
              <a:effectLst/>
            </a:endParaRPr>
          </a:p>
          <a:p>
            <a:pPr marL="457200" indent="-457200" algn="just">
              <a:buFont typeface="Arial" panose="020B0604020202020204" pitchFamily="34" charset="0"/>
              <a:buChar char="•"/>
            </a:pPr>
            <a:r>
              <a:rPr lang="en-US" sz="2600" b="0" i="0" dirty="0">
                <a:effectLst/>
              </a:rPr>
              <a:t>One of the need of implementation of brownout is to ensure that consumer get some amount of power instead of total power failure which help in providing fairness among users in both commercial or residential neighborhood.</a:t>
            </a:r>
          </a:p>
        </p:txBody>
      </p:sp>
    </p:spTree>
    <p:extLst>
      <p:ext uri="{BB962C8B-B14F-4D97-AF65-F5344CB8AC3E}">
        <p14:creationId xmlns:p14="http://schemas.microsoft.com/office/powerpoint/2010/main" val="3539192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BAEA1-8D7E-F924-8289-94B4C0F9538F}"/>
              </a:ext>
            </a:extLst>
          </p:cNvPr>
          <p:cNvSpPr txBox="1"/>
          <p:nvPr/>
        </p:nvSpPr>
        <p:spPr>
          <a:xfrm>
            <a:off x="142612" y="1216404"/>
            <a:ext cx="11895589" cy="4124206"/>
          </a:xfrm>
          <a:prstGeom prst="rect">
            <a:avLst/>
          </a:prstGeom>
          <a:noFill/>
        </p:spPr>
        <p:txBody>
          <a:bodyPr wrap="square">
            <a:spAutoFit/>
          </a:bodyPr>
          <a:lstStyle/>
          <a:p>
            <a:pPr algn="just"/>
            <a:r>
              <a:rPr lang="en-US" sz="2600" dirty="0"/>
              <a:t>To ensure the following constraints are satisfied:</a:t>
            </a:r>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r>
              <a:rPr lang="en-US" sz="2600" dirty="0"/>
              <a:t>Fairness in distribution: A fair and just power distribution system should be designed to distribute power without bias, ensuring that all consumers, regardless of their location, socio-economic status, or other demographic factors, have access to reliable and affordable power. </a:t>
            </a:r>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r>
              <a:rPr lang="en-US" sz="2600" dirty="0"/>
              <a:t>Reduction in violation: Since it will defeat the purpose of brownout where power consumption should be reduced to reduce the burden on electric grid. </a:t>
            </a:r>
          </a:p>
          <a:p>
            <a:pPr marL="457200" indent="-457200" algn="just">
              <a:buFont typeface="Arial" panose="020B0604020202020204" pitchFamily="34" charset="0"/>
              <a:buChar char="•"/>
            </a:pPr>
            <a:endParaRPr lang="en-US" sz="2600" dirty="0"/>
          </a:p>
        </p:txBody>
      </p:sp>
      <p:sp>
        <p:nvSpPr>
          <p:cNvPr id="4" name="TextBox 3">
            <a:extLst>
              <a:ext uri="{FF2B5EF4-FFF2-40B4-BE49-F238E27FC236}">
                <a16:creationId xmlns:a16="http://schemas.microsoft.com/office/drawing/2014/main" id="{A5AEA294-AD93-4227-8B61-A6F3B2297D4F}"/>
              </a:ext>
            </a:extLst>
          </p:cNvPr>
          <p:cNvSpPr txBox="1"/>
          <p:nvPr/>
        </p:nvSpPr>
        <p:spPr>
          <a:xfrm>
            <a:off x="4051883" y="293615"/>
            <a:ext cx="2525086" cy="553998"/>
          </a:xfrm>
          <a:prstGeom prst="rect">
            <a:avLst/>
          </a:prstGeom>
          <a:noFill/>
        </p:spPr>
        <p:txBody>
          <a:bodyPr wrap="square" rtlCol="0">
            <a:spAutoFit/>
          </a:bodyPr>
          <a:lstStyle/>
          <a:p>
            <a:pPr algn="ctr"/>
            <a:r>
              <a:rPr lang="en-US" sz="3000" b="1" dirty="0"/>
              <a:t>Aim</a:t>
            </a:r>
          </a:p>
        </p:txBody>
      </p:sp>
    </p:spTree>
    <p:extLst>
      <p:ext uri="{BB962C8B-B14F-4D97-AF65-F5344CB8AC3E}">
        <p14:creationId xmlns:p14="http://schemas.microsoft.com/office/powerpoint/2010/main" val="18353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98E4A9-41A2-84D0-FDAA-9B24F0989AA4}"/>
              </a:ext>
            </a:extLst>
          </p:cNvPr>
          <p:cNvSpPr txBox="1"/>
          <p:nvPr/>
        </p:nvSpPr>
        <p:spPr>
          <a:xfrm>
            <a:off x="201336" y="1367406"/>
            <a:ext cx="11736198" cy="4247317"/>
          </a:xfrm>
          <a:prstGeom prst="rect">
            <a:avLst/>
          </a:prstGeom>
          <a:noFill/>
        </p:spPr>
        <p:txBody>
          <a:bodyPr wrap="square">
            <a:spAutoFit/>
          </a:bodyPr>
          <a:lstStyle/>
          <a:p>
            <a:pPr algn="just"/>
            <a:r>
              <a:rPr lang="en-US" sz="2600" dirty="0"/>
              <a:t>• Developing different power threshold algorithms for practical implementation of brownout. These ensure reduced violation and fairness in allocation using different criteria. </a:t>
            </a:r>
          </a:p>
          <a:p>
            <a:pPr algn="just"/>
            <a:endParaRPr lang="en-US" dirty="0"/>
          </a:p>
          <a:p>
            <a:pPr algn="just"/>
            <a:r>
              <a:rPr lang="en-US" sz="2600" dirty="0"/>
              <a:t>• The hybrid algorithm makes use of multiple fairness heuristic so that starvation of certain consumers for a set of approaches can be avoided; it also ensures minimum violation across the </a:t>
            </a:r>
            <a:r>
              <a:rPr lang="en-US" sz="2600" dirty="0" err="1"/>
              <a:t>neighbourhood</a:t>
            </a:r>
            <a:r>
              <a:rPr lang="en-US" sz="2600" dirty="0"/>
              <a:t>. </a:t>
            </a:r>
          </a:p>
          <a:p>
            <a:pPr algn="just"/>
            <a:endParaRPr lang="en-US" dirty="0"/>
          </a:p>
          <a:p>
            <a:pPr algn="just"/>
            <a:r>
              <a:rPr lang="en-US" sz="2600" dirty="0"/>
              <a:t>• Exhaustive testing and evaluation on </a:t>
            </a:r>
            <a:r>
              <a:rPr lang="en-US" sz="2600" dirty="0" err="1"/>
              <a:t>on</a:t>
            </a:r>
            <a:r>
              <a:rPr lang="en-US" sz="2600" dirty="0"/>
              <a:t> real world datasets of three regions. The impressive results thus obtained convince about the </a:t>
            </a:r>
            <a:r>
              <a:rPr lang="en-US" sz="2600" dirty="0" err="1"/>
              <a:t>effectivenes</a:t>
            </a:r>
            <a:r>
              <a:rPr lang="en-US" sz="2600" dirty="0"/>
              <a:t> of the developed approach.</a:t>
            </a:r>
          </a:p>
        </p:txBody>
      </p:sp>
      <p:sp>
        <p:nvSpPr>
          <p:cNvPr id="5" name="TextBox 4">
            <a:extLst>
              <a:ext uri="{FF2B5EF4-FFF2-40B4-BE49-F238E27FC236}">
                <a16:creationId xmlns:a16="http://schemas.microsoft.com/office/drawing/2014/main" id="{90AF7AC5-D6A8-F32F-5883-335DB9445E3E}"/>
              </a:ext>
            </a:extLst>
          </p:cNvPr>
          <p:cNvSpPr txBox="1"/>
          <p:nvPr/>
        </p:nvSpPr>
        <p:spPr>
          <a:xfrm>
            <a:off x="478172" y="201336"/>
            <a:ext cx="10534476" cy="553998"/>
          </a:xfrm>
          <a:prstGeom prst="rect">
            <a:avLst/>
          </a:prstGeom>
          <a:noFill/>
        </p:spPr>
        <p:txBody>
          <a:bodyPr wrap="square">
            <a:spAutoFit/>
          </a:bodyPr>
          <a:lstStyle/>
          <a:p>
            <a:pPr algn="ctr"/>
            <a:r>
              <a:rPr lang="en-US" sz="3000" b="1" dirty="0"/>
              <a:t>Our Contribution </a:t>
            </a:r>
          </a:p>
        </p:txBody>
      </p:sp>
    </p:spTree>
    <p:extLst>
      <p:ext uri="{BB962C8B-B14F-4D97-AF65-F5344CB8AC3E}">
        <p14:creationId xmlns:p14="http://schemas.microsoft.com/office/powerpoint/2010/main" val="1805063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808DE3-B664-06DE-24C3-3B80507D12A7}"/>
              </a:ext>
            </a:extLst>
          </p:cNvPr>
          <p:cNvSpPr txBox="1"/>
          <p:nvPr/>
        </p:nvSpPr>
        <p:spPr>
          <a:xfrm>
            <a:off x="-69742" y="113252"/>
            <a:ext cx="12116333" cy="5632311"/>
          </a:xfrm>
          <a:prstGeom prst="rect">
            <a:avLst/>
          </a:prstGeom>
          <a:noFill/>
        </p:spPr>
        <p:txBody>
          <a:bodyPr wrap="square" rtlCol="0">
            <a:spAutoFit/>
          </a:bodyPr>
          <a:lstStyle/>
          <a:p>
            <a:pPr algn="ctr"/>
            <a:r>
              <a:rPr lang="en-US" sz="3000" b="1" dirty="0"/>
              <a:t>Architecture</a:t>
            </a:r>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a:p>
            <a:pPr algn="ctr"/>
            <a:endParaRPr lang="en-US" sz="3000" b="1" dirty="0"/>
          </a:p>
        </p:txBody>
      </p:sp>
      <p:pic>
        <p:nvPicPr>
          <p:cNvPr id="33" name="Picture 32">
            <a:extLst>
              <a:ext uri="{FF2B5EF4-FFF2-40B4-BE49-F238E27FC236}">
                <a16:creationId xmlns:a16="http://schemas.microsoft.com/office/drawing/2014/main" id="{E27DB698-B933-02F7-EE54-1351C0D32922}"/>
              </a:ext>
            </a:extLst>
          </p:cNvPr>
          <p:cNvPicPr>
            <a:picLocks noChangeAspect="1"/>
          </p:cNvPicPr>
          <p:nvPr/>
        </p:nvPicPr>
        <p:blipFill rotWithShape="1">
          <a:blip r:embed="rId2"/>
          <a:srcRect l="918" t="5009" r="21" b="3894"/>
          <a:stretch/>
        </p:blipFill>
        <p:spPr>
          <a:xfrm>
            <a:off x="2533973" y="619933"/>
            <a:ext cx="7530569" cy="5982346"/>
          </a:xfrm>
          <a:prstGeom prst="rect">
            <a:avLst/>
          </a:prstGeom>
        </p:spPr>
      </p:pic>
    </p:spTree>
    <p:extLst>
      <p:ext uri="{BB962C8B-B14F-4D97-AF65-F5344CB8AC3E}">
        <p14:creationId xmlns:p14="http://schemas.microsoft.com/office/powerpoint/2010/main" val="141835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48CEAD-49DA-B6D8-3EE8-9D9E871AAB1F}"/>
              </a:ext>
            </a:extLst>
          </p:cNvPr>
          <p:cNvSpPr txBox="1"/>
          <p:nvPr/>
        </p:nvSpPr>
        <p:spPr>
          <a:xfrm>
            <a:off x="100739" y="-1131376"/>
            <a:ext cx="12091261" cy="7140416"/>
          </a:xfrm>
          <a:prstGeom prst="rect">
            <a:avLst/>
          </a:prstGeom>
          <a:noFill/>
        </p:spPr>
        <p:txBody>
          <a:bodyPr wrap="square">
            <a:spAutoFit/>
          </a:bodyPr>
          <a:lstStyle/>
          <a:p>
            <a:pPr marL="285750" indent="-285750" algn="just">
              <a:buFont typeface="Arial" panose="020B0604020202020204" pitchFamily="34" charset="0"/>
              <a:buChar char="•"/>
            </a:pPr>
            <a:r>
              <a:rPr lang="en-US" sz="2600" b="1" dirty="0" err="1"/>
              <a:t>Smartmeter</a:t>
            </a:r>
            <a:r>
              <a:rPr lang="en-US" sz="2600" b="1" dirty="0"/>
              <a:t>-</a:t>
            </a:r>
            <a:r>
              <a:rPr lang="en-US" sz="2600" dirty="0"/>
              <a:t>&gt; Measures aggregated power consumption at periodic intervals and this data is sent to controller of neighborhood.</a:t>
            </a:r>
          </a:p>
          <a:p>
            <a:pPr algn="just"/>
            <a:endParaRPr lang="en-US" dirty="0"/>
          </a:p>
          <a:p>
            <a:pPr marL="285750" indent="-285750" algn="just">
              <a:buFont typeface="Arial" panose="020B0604020202020204" pitchFamily="34" charset="0"/>
              <a:buChar char="•"/>
            </a:pPr>
            <a:endParaRPr lang="en-US" sz="2600" b="1" dirty="0"/>
          </a:p>
          <a:p>
            <a:pPr marL="285750" indent="-285750" algn="just">
              <a:buFont typeface="Arial" panose="020B0604020202020204" pitchFamily="34" charset="0"/>
              <a:buChar char="•"/>
            </a:pPr>
            <a:endParaRPr lang="en-US" sz="2600" b="1" dirty="0"/>
          </a:p>
          <a:p>
            <a:pPr marL="285750" indent="-285750" algn="just">
              <a:buFont typeface="Arial" panose="020B0604020202020204" pitchFamily="34" charset="0"/>
              <a:buChar char="•"/>
            </a:pPr>
            <a:r>
              <a:rPr lang="en-US" sz="2800" b="1" dirty="0" err="1"/>
              <a:t>Smartmeter</a:t>
            </a:r>
            <a:r>
              <a:rPr lang="en-US" sz="2800" b="1" dirty="0"/>
              <a:t>-</a:t>
            </a:r>
            <a:r>
              <a:rPr lang="en-US" sz="2800" dirty="0"/>
              <a:t>&gt; Measures aggregated power consumption at periodic intervals and this data is sent to controller of neighborhood.</a:t>
            </a:r>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US" sz="2600" b="1" dirty="0"/>
              <a:t>Controller-</a:t>
            </a:r>
            <a:r>
              <a:rPr lang="en-US" sz="2600" dirty="0"/>
              <a:t>&gt; Controller is responsible for implementing novel threshold algorithms for each slot, with the help of data from </a:t>
            </a:r>
            <a:r>
              <a:rPr lang="en-US" sz="2600" dirty="0" err="1"/>
              <a:t>smartmeter</a:t>
            </a:r>
            <a:r>
              <a:rPr lang="en-US" sz="2600" dirty="0"/>
              <a:t> controller can </a:t>
            </a:r>
          </a:p>
          <a:p>
            <a:pPr marL="285750" indent="-285750" algn="just">
              <a:buFont typeface="Arial" panose="020B0604020202020204" pitchFamily="34" charset="0"/>
              <a:buChar char="•"/>
            </a:pPr>
            <a:endParaRPr lang="en-US" dirty="0"/>
          </a:p>
          <a:p>
            <a:pPr algn="just"/>
            <a:r>
              <a:rPr lang="en-US" sz="2600" dirty="0"/>
              <a:t> (a) track the consumers that are violating the thresholds</a:t>
            </a:r>
          </a:p>
          <a:p>
            <a:pPr algn="just"/>
            <a:endParaRPr lang="en-US" dirty="0"/>
          </a:p>
          <a:p>
            <a:pPr algn="just"/>
            <a:r>
              <a:rPr lang="en-US" sz="2600" dirty="0"/>
              <a:t> (b) incorporate the changes in the power consumption </a:t>
            </a:r>
            <a:r>
              <a:rPr lang="en-US" sz="2600" dirty="0" err="1"/>
              <a:t>behaviour</a:t>
            </a:r>
            <a:r>
              <a:rPr lang="en-US" sz="2600" dirty="0"/>
              <a:t> of different consumers while allocating threshold. </a:t>
            </a:r>
          </a:p>
          <a:p>
            <a:pPr algn="just"/>
            <a:endParaRPr lang="en-US" dirty="0"/>
          </a:p>
          <a:p>
            <a:pPr marL="285750" indent="-285750" algn="just">
              <a:buFont typeface="Arial" panose="020B0604020202020204" pitchFamily="34" charset="0"/>
              <a:buChar char="•"/>
            </a:pPr>
            <a:r>
              <a:rPr lang="en-US" sz="2600" b="1" dirty="0"/>
              <a:t>Utility-</a:t>
            </a:r>
            <a:r>
              <a:rPr lang="en-US" sz="2600" dirty="0"/>
              <a:t>&gt;Checks and commands controller for better planning and generation.</a:t>
            </a:r>
          </a:p>
          <a:p>
            <a:pPr algn="just"/>
            <a:endParaRPr lang="en-US" dirty="0"/>
          </a:p>
          <a:p>
            <a:pPr marL="285750" indent="-285750" algn="just">
              <a:buFont typeface="Arial" panose="020B0604020202020204" pitchFamily="34" charset="0"/>
              <a:buChar char="•"/>
            </a:pPr>
            <a:r>
              <a:rPr lang="en-US" sz="2600" b="1" dirty="0"/>
              <a:t>Power-</a:t>
            </a:r>
            <a:r>
              <a:rPr lang="en-US" sz="2600" dirty="0"/>
              <a:t>&gt; Power generated from mostly non-renewable resources</a:t>
            </a:r>
          </a:p>
        </p:txBody>
      </p:sp>
    </p:spTree>
    <p:extLst>
      <p:ext uri="{BB962C8B-B14F-4D97-AF65-F5344CB8AC3E}">
        <p14:creationId xmlns:p14="http://schemas.microsoft.com/office/powerpoint/2010/main" val="788039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8552A-6592-8A48-D3AD-9AB00959F3E5}"/>
              </a:ext>
            </a:extLst>
          </p:cNvPr>
          <p:cNvSpPr txBox="1"/>
          <p:nvPr/>
        </p:nvSpPr>
        <p:spPr>
          <a:xfrm>
            <a:off x="3349571" y="284157"/>
            <a:ext cx="6094708" cy="553998"/>
          </a:xfrm>
          <a:prstGeom prst="rect">
            <a:avLst/>
          </a:prstGeom>
          <a:noFill/>
        </p:spPr>
        <p:txBody>
          <a:bodyPr wrap="square">
            <a:spAutoFit/>
          </a:bodyPr>
          <a:lstStyle/>
          <a:p>
            <a:pPr algn="ctr"/>
            <a:r>
              <a:rPr lang="en-US" sz="3000" b="1" i="0" dirty="0">
                <a:effectLst/>
              </a:rPr>
              <a:t>Dataset</a:t>
            </a:r>
            <a:endParaRPr lang="en-US" sz="3000" b="1" dirty="0"/>
          </a:p>
        </p:txBody>
      </p:sp>
      <p:sp>
        <p:nvSpPr>
          <p:cNvPr id="5" name="TextBox 4">
            <a:extLst>
              <a:ext uri="{FF2B5EF4-FFF2-40B4-BE49-F238E27FC236}">
                <a16:creationId xmlns:a16="http://schemas.microsoft.com/office/drawing/2014/main" id="{0D0CE180-1C7D-578A-27AC-8E09D646139E}"/>
              </a:ext>
            </a:extLst>
          </p:cNvPr>
          <p:cNvSpPr txBox="1"/>
          <p:nvPr/>
        </p:nvSpPr>
        <p:spPr>
          <a:xfrm>
            <a:off x="201478" y="838155"/>
            <a:ext cx="11817458" cy="5293757"/>
          </a:xfrm>
          <a:prstGeom prst="rect">
            <a:avLst/>
          </a:prstGeom>
          <a:noFill/>
        </p:spPr>
        <p:txBody>
          <a:bodyPr wrap="square">
            <a:spAutoFit/>
          </a:bodyPr>
          <a:lstStyle/>
          <a:p>
            <a:pPr marL="285750" indent="-285750" algn="just">
              <a:buFont typeface="Arial" panose="020B0604020202020204" pitchFamily="34" charset="0"/>
              <a:buChar char="•"/>
            </a:pPr>
            <a:r>
              <a:rPr lang="en-US" sz="2600" b="0" i="0" dirty="0">
                <a:effectLst/>
              </a:rPr>
              <a:t>We have used time series real world datasets of 3 different cities named Austin, California and New York.</a:t>
            </a:r>
          </a:p>
          <a:p>
            <a:pPr marL="285750" indent="-285750" algn="just">
              <a:buFont typeface="Arial" panose="020B0604020202020204" pitchFamily="34" charset="0"/>
              <a:buChar char="•"/>
            </a:pPr>
            <a:endParaRPr lang="en-US" sz="2600" b="0" i="0" dirty="0">
              <a:effectLst/>
            </a:endParaRPr>
          </a:p>
          <a:p>
            <a:pPr marL="285750" indent="-285750" algn="just">
              <a:buFont typeface="Arial" panose="020B0604020202020204" pitchFamily="34" charset="0"/>
              <a:buChar char="•"/>
            </a:pPr>
            <a:r>
              <a:rPr lang="en-US" sz="2600" dirty="0"/>
              <a:t>These datasets have been provided to us by PECAN STREET Incorporation.</a:t>
            </a:r>
          </a:p>
          <a:p>
            <a:pPr marL="285750" indent="-285750" algn="just">
              <a:buFont typeface="Arial" panose="020B0604020202020204" pitchFamily="34" charset="0"/>
              <a:buChar char="•"/>
            </a:pPr>
            <a:endParaRPr lang="en-US" sz="2600" dirty="0"/>
          </a:p>
          <a:p>
            <a:pPr marL="285750" indent="-285750" algn="just">
              <a:buFont typeface="Arial" panose="020B0604020202020204" pitchFamily="34" charset="0"/>
              <a:buChar char="•"/>
            </a:pPr>
            <a:r>
              <a:rPr lang="en-US" sz="2600" dirty="0"/>
              <a:t>On their website we obtained the required datasets for Energy based research in the </a:t>
            </a:r>
            <a:r>
              <a:rPr lang="en-US" sz="2600" dirty="0" err="1"/>
              <a:t>Dataport</a:t>
            </a:r>
            <a:r>
              <a:rPr lang="en-US" sz="2600" dirty="0"/>
              <a:t> section of their website. PECAN STREET Incorporation are the owners of these datasets and they have agreed to provide us these for them to be used for research purpose only.</a:t>
            </a:r>
          </a:p>
          <a:p>
            <a:pPr marL="285750" indent="-285750" algn="just">
              <a:buFont typeface="Arial" panose="020B0604020202020204" pitchFamily="34" charset="0"/>
              <a:buChar char="•"/>
            </a:pPr>
            <a:endParaRPr lang="en-US" sz="2600" dirty="0"/>
          </a:p>
          <a:p>
            <a:pPr marL="285750" indent="-285750" algn="just">
              <a:buFont typeface="Arial" panose="020B0604020202020204" pitchFamily="34" charset="0"/>
              <a:buChar char="•"/>
            </a:pPr>
            <a:r>
              <a:rPr lang="en-US" sz="2600" b="0" i="0" dirty="0">
                <a:effectLst/>
              </a:rPr>
              <a:t>We plot some attributes to see the data values and variations.</a:t>
            </a:r>
            <a:br>
              <a:rPr lang="en-US" sz="2600" dirty="0"/>
            </a:br>
            <a:r>
              <a:rPr lang="en-US" sz="2600" b="0" i="0" dirty="0">
                <a:effectLst/>
              </a:rPr>
              <a:t>Here we have a plot for using 5 attributes-grid(power consumption), air1(air conditioner),dishwasher1(dishwasher), furnace1 and </a:t>
            </a:r>
            <a:r>
              <a:rPr lang="en-US" sz="2600" b="0" i="0" dirty="0" err="1">
                <a:effectLst/>
              </a:rPr>
              <a:t>localminute</a:t>
            </a:r>
            <a:r>
              <a:rPr lang="en-US" sz="2600" b="0" i="0" dirty="0">
                <a:effectLst/>
              </a:rPr>
              <a:t> as x-axis.</a:t>
            </a:r>
            <a:endParaRPr lang="en-US" sz="2600" dirty="0"/>
          </a:p>
        </p:txBody>
      </p:sp>
    </p:spTree>
    <p:extLst>
      <p:ext uri="{BB962C8B-B14F-4D97-AF65-F5344CB8AC3E}">
        <p14:creationId xmlns:p14="http://schemas.microsoft.com/office/powerpoint/2010/main" val="3487860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7D9E6A-602C-0575-9BBF-2ED971BA3BD3}"/>
              </a:ext>
            </a:extLst>
          </p:cNvPr>
          <p:cNvPicPr>
            <a:picLocks noChangeAspect="1"/>
          </p:cNvPicPr>
          <p:nvPr/>
        </p:nvPicPr>
        <p:blipFill>
          <a:blip r:embed="rId2"/>
          <a:stretch>
            <a:fillRect/>
          </a:stretch>
        </p:blipFill>
        <p:spPr>
          <a:xfrm>
            <a:off x="2674974" y="449450"/>
            <a:ext cx="6842051" cy="5232567"/>
          </a:xfrm>
          <a:prstGeom prst="rect">
            <a:avLst/>
          </a:prstGeom>
        </p:spPr>
      </p:pic>
      <p:sp>
        <p:nvSpPr>
          <p:cNvPr id="5" name="TextBox 4">
            <a:extLst>
              <a:ext uri="{FF2B5EF4-FFF2-40B4-BE49-F238E27FC236}">
                <a16:creationId xmlns:a16="http://schemas.microsoft.com/office/drawing/2014/main" id="{E0BB397E-4AEF-8DDD-1649-C70204AC92F1}"/>
              </a:ext>
            </a:extLst>
          </p:cNvPr>
          <p:cNvSpPr txBox="1"/>
          <p:nvPr/>
        </p:nvSpPr>
        <p:spPr>
          <a:xfrm>
            <a:off x="472698" y="5682017"/>
            <a:ext cx="10810068" cy="492443"/>
          </a:xfrm>
          <a:prstGeom prst="rect">
            <a:avLst/>
          </a:prstGeom>
          <a:noFill/>
        </p:spPr>
        <p:txBody>
          <a:bodyPr wrap="square">
            <a:spAutoFit/>
          </a:bodyPr>
          <a:lstStyle/>
          <a:p>
            <a:pPr algn="ctr"/>
            <a:r>
              <a:rPr lang="en-US" sz="2600" dirty="0"/>
              <a:t>We plot some attributes to see the data values and variations.</a:t>
            </a:r>
          </a:p>
        </p:txBody>
      </p:sp>
    </p:spTree>
    <p:extLst>
      <p:ext uri="{BB962C8B-B14F-4D97-AF65-F5344CB8AC3E}">
        <p14:creationId xmlns:p14="http://schemas.microsoft.com/office/powerpoint/2010/main" val="3764812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B0048E-9779-D0B9-3A7A-DBD1B4FE18FF}"/>
              </a:ext>
            </a:extLst>
          </p:cNvPr>
          <p:cNvSpPr txBox="1"/>
          <p:nvPr/>
        </p:nvSpPr>
        <p:spPr>
          <a:xfrm>
            <a:off x="497237" y="0"/>
            <a:ext cx="11197525" cy="553998"/>
          </a:xfrm>
          <a:prstGeom prst="rect">
            <a:avLst/>
          </a:prstGeom>
          <a:noFill/>
        </p:spPr>
        <p:txBody>
          <a:bodyPr wrap="square">
            <a:spAutoFit/>
          </a:bodyPr>
          <a:lstStyle/>
          <a:p>
            <a:pPr algn="ctr"/>
            <a:r>
              <a:rPr lang="en-US" sz="3000" b="1" dirty="0"/>
              <a:t>Different algorithms used for distribution are as follows :</a:t>
            </a:r>
          </a:p>
        </p:txBody>
      </p:sp>
      <p:sp>
        <p:nvSpPr>
          <p:cNvPr id="4" name="TextBox 3">
            <a:extLst>
              <a:ext uri="{FF2B5EF4-FFF2-40B4-BE49-F238E27FC236}">
                <a16:creationId xmlns:a16="http://schemas.microsoft.com/office/drawing/2014/main" id="{3F8E3ED5-F862-0E3C-4A87-EF1DDD08D188}"/>
              </a:ext>
            </a:extLst>
          </p:cNvPr>
          <p:cNvSpPr txBox="1"/>
          <p:nvPr/>
        </p:nvSpPr>
        <p:spPr>
          <a:xfrm>
            <a:off x="0" y="379708"/>
            <a:ext cx="12192000" cy="6247864"/>
          </a:xfrm>
          <a:prstGeom prst="rect">
            <a:avLst/>
          </a:prstGeom>
          <a:noFill/>
        </p:spPr>
        <p:txBody>
          <a:bodyPr wrap="square" rtlCol="0">
            <a:spAutoFit/>
          </a:bodyPr>
          <a:lstStyle/>
          <a:p>
            <a:pPr algn="just"/>
            <a:r>
              <a:rPr lang="en-US" sz="2600" b="1" dirty="0"/>
              <a:t>1. Equal</a:t>
            </a:r>
            <a:r>
              <a:rPr lang="en-US" sz="2600" dirty="0"/>
              <a:t> </a:t>
            </a:r>
            <a:r>
              <a:rPr lang="en-US" sz="2600" b="1" dirty="0"/>
              <a:t>Distribution</a:t>
            </a:r>
            <a:r>
              <a:rPr lang="en-US" sz="2600" dirty="0"/>
              <a:t>: This algorithm equally distributes the utility specified threshold power among users in a neighborhood, in a given slot.</a:t>
            </a:r>
          </a:p>
          <a:p>
            <a:pPr algn="just"/>
            <a:endParaRPr lang="en-US" dirty="0"/>
          </a:p>
          <a:p>
            <a:pPr algn="just"/>
            <a:r>
              <a:rPr lang="en-US" sz="2600" dirty="0"/>
              <a:t>Consider a dummy dataset of 3 houses with following power consumption: </a:t>
            </a:r>
          </a:p>
          <a:p>
            <a:pPr algn="just"/>
            <a:r>
              <a:rPr lang="en-US" sz="2600" dirty="0"/>
              <a:t>house1 – 30kw, house2 – 40kw, and house3 – 50k</a:t>
            </a:r>
            <a:r>
              <a:rPr lang="en-US" dirty="0"/>
              <a:t>, </a:t>
            </a:r>
            <a:r>
              <a:rPr lang="en-US" sz="2600" dirty="0"/>
              <a:t>thus their total power consumption is 120kw. </a:t>
            </a:r>
            <a:r>
              <a:rPr lang="en-US" dirty="0"/>
              <a:t> </a:t>
            </a:r>
            <a:r>
              <a:rPr lang="en-US" sz="2600" dirty="0"/>
              <a:t>Assuming that utility impose a threshold of 90kw on all these consumers. </a:t>
            </a:r>
          </a:p>
          <a:p>
            <a:pPr algn="just"/>
            <a:r>
              <a:rPr lang="en-US" sz="2600" dirty="0"/>
              <a:t>So according to equal distribution threshold for each house is allocated as 90/3 = 30kw. Now if in a case an appliance in all houses require 30kw then there will be starvation for house2 and house3. We can observe that for each time slot the power threshold is divided equally as local threshold. </a:t>
            </a:r>
          </a:p>
          <a:p>
            <a:pPr algn="just"/>
            <a:endParaRPr lang="en-US" sz="2600" dirty="0"/>
          </a:p>
          <a:p>
            <a:pPr algn="just"/>
            <a:r>
              <a:rPr lang="en-US" sz="2600" dirty="0"/>
              <a:t>Advantage- Every user gets some power threshold to operate some devices.</a:t>
            </a:r>
          </a:p>
          <a:p>
            <a:pPr algn="just"/>
            <a:endParaRPr lang="en-US" dirty="0"/>
          </a:p>
          <a:p>
            <a:pPr algn="just"/>
            <a:r>
              <a:rPr lang="en-US" sz="2600" dirty="0"/>
              <a:t>Disadvantage- Starvation for consumers having higher power consumption requirements. </a:t>
            </a:r>
          </a:p>
          <a:p>
            <a:pPr algn="just"/>
            <a:r>
              <a:rPr lang="en-US" sz="2600" dirty="0"/>
              <a:t>In addition, it leads to wastage of power threshold for consumers with low consumption.</a:t>
            </a:r>
          </a:p>
          <a:p>
            <a:pPr algn="just"/>
            <a:endParaRPr lang="en-US" sz="2600" dirty="0"/>
          </a:p>
        </p:txBody>
      </p:sp>
    </p:spTree>
    <p:extLst>
      <p:ext uri="{BB962C8B-B14F-4D97-AF65-F5344CB8AC3E}">
        <p14:creationId xmlns:p14="http://schemas.microsoft.com/office/powerpoint/2010/main" val="3540121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5B72A6-E3B3-0D2C-411B-BFE46B8B51B1}"/>
              </a:ext>
            </a:extLst>
          </p:cNvPr>
          <p:cNvSpPr txBox="1"/>
          <p:nvPr/>
        </p:nvSpPr>
        <p:spPr>
          <a:xfrm>
            <a:off x="108488" y="123985"/>
            <a:ext cx="11972441" cy="7294305"/>
          </a:xfrm>
          <a:prstGeom prst="rect">
            <a:avLst/>
          </a:prstGeom>
          <a:noFill/>
        </p:spPr>
        <p:txBody>
          <a:bodyPr wrap="square">
            <a:spAutoFit/>
          </a:bodyPr>
          <a:lstStyle/>
          <a:p>
            <a:pPr algn="just"/>
            <a:r>
              <a:rPr lang="en-US" sz="2600" b="1" dirty="0"/>
              <a:t>2. Proportionate distribution: </a:t>
            </a:r>
            <a:r>
              <a:rPr lang="en-US" sz="2600" dirty="0"/>
              <a:t>This algorithm, distributes power threshold based on the ratio of power consumption of each consumer to the total power consumption of the neighborhood.</a:t>
            </a:r>
            <a:r>
              <a:rPr lang="en-US" sz="2600" b="1" dirty="0"/>
              <a:t> </a:t>
            </a:r>
          </a:p>
          <a:p>
            <a:pPr algn="just"/>
            <a:r>
              <a:rPr lang="en-US" sz="2600" dirty="0"/>
              <a:t>Consider a dummy dataset of 3 houses with following power consumption house1 – 30kw, house2 – 40kw, house3 – 50k, so total power consumption=120kw. Assuming that utility impose a threshold of 30kw on all these consumers. So according to proportionate distribution threshold for each house is allocated are as follows-</a:t>
            </a:r>
          </a:p>
          <a:p>
            <a:pPr algn="just"/>
            <a:r>
              <a:rPr lang="en-US" sz="2600" dirty="0"/>
              <a:t>House1- (30/120)*30=7.5kw, House2- (40/120)*30=10kw, House3-(50/120)*30=12.5kw</a:t>
            </a:r>
          </a:p>
          <a:p>
            <a:pPr algn="just"/>
            <a:endParaRPr lang="en-US" sz="2600" dirty="0"/>
          </a:p>
          <a:p>
            <a:pPr algn="just"/>
            <a:r>
              <a:rPr lang="en-US" sz="2600" dirty="0"/>
              <a:t>Advantage- Users gets power threshold proportionate to their power consumption needs.</a:t>
            </a:r>
          </a:p>
          <a:p>
            <a:pPr algn="just"/>
            <a:endParaRPr lang="en-US" sz="2600" dirty="0"/>
          </a:p>
          <a:p>
            <a:pPr algn="just"/>
            <a:r>
              <a:rPr lang="en-US" sz="2600" dirty="0"/>
              <a:t>Disadvantage- Starvation of users. If a consumer with minimal appliances consumes higher power as compared to other careful consumers, this algorithm will encourage such </a:t>
            </a:r>
            <a:r>
              <a:rPr lang="en-US" sz="2600" dirty="0" err="1"/>
              <a:t>behaviour</a:t>
            </a:r>
            <a:r>
              <a:rPr lang="en-US" sz="2600" dirty="0"/>
              <a:t> by allocating a relatively higher power threshold leading to more wastage of power.</a:t>
            </a:r>
          </a:p>
          <a:p>
            <a:pPr algn="just"/>
            <a:endParaRPr lang="en-US" sz="2600" dirty="0"/>
          </a:p>
          <a:p>
            <a:pPr algn="just"/>
            <a:endParaRPr lang="en-US" sz="2600" b="1" dirty="0"/>
          </a:p>
        </p:txBody>
      </p:sp>
    </p:spTree>
    <p:extLst>
      <p:ext uri="{BB962C8B-B14F-4D97-AF65-F5344CB8AC3E}">
        <p14:creationId xmlns:p14="http://schemas.microsoft.com/office/powerpoint/2010/main" val="3550397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570FFB-24C4-E108-06CD-A82F86D2EDA4}"/>
              </a:ext>
            </a:extLst>
          </p:cNvPr>
          <p:cNvSpPr txBox="1"/>
          <p:nvPr/>
        </p:nvSpPr>
        <p:spPr>
          <a:xfrm>
            <a:off x="125923" y="-1"/>
            <a:ext cx="11955006" cy="6771084"/>
          </a:xfrm>
          <a:prstGeom prst="rect">
            <a:avLst/>
          </a:prstGeom>
          <a:noFill/>
        </p:spPr>
        <p:txBody>
          <a:bodyPr wrap="square">
            <a:spAutoFit/>
          </a:bodyPr>
          <a:lstStyle/>
          <a:p>
            <a:pPr algn="just"/>
            <a:r>
              <a:rPr lang="en-US" sz="2600" b="1" dirty="0"/>
              <a:t>3. Consumer Usage Distribution: </a:t>
            </a:r>
            <a:r>
              <a:rPr lang="en-US" sz="2600" dirty="0"/>
              <a:t>This algorithm is used to assign local threshold to each consumer based on ratings. A consumer’s rating is calculated by dividing the power consumption in the previous slot by the maximum power that can be consumed by all appliances in that slot. This ratio is then subtracted from 1 to get the ratings.</a:t>
            </a:r>
          </a:p>
          <a:p>
            <a:pPr algn="just"/>
            <a:r>
              <a:rPr lang="en-US" sz="2600" dirty="0"/>
              <a:t> A higher rating is indicated by a lower ratio. We have found out the maximum power that can be consumed by each house and divided it to its value at every particular time slot to get a ratio then we have divided it by the summation of all ratio to get normalized ratings. As we have said the lower the ratio higher the ratings hence inversely proportionate result is obtained. Example if a user did not use his home appliances at its full capacity and at has lower power usage thus he has gets higher rating and then higher power is as well as power is allocated to him thus it can be seen both as advantage and disadvantage if he needs more power in next time slot he can get it if he does not then it can lead to waste of energy.</a:t>
            </a:r>
          </a:p>
          <a:p>
            <a:pPr algn="just"/>
            <a:endParaRPr lang="en-US" b="1" dirty="0"/>
          </a:p>
          <a:p>
            <a:pPr algn="just"/>
            <a:r>
              <a:rPr lang="en-US" sz="2600" dirty="0"/>
              <a:t>Disadvantage- The only disadvantage is that if at a particular timeslot due to consumer rating if a user gets more local power threshold due to its old consumer rating than required then it may lead to waste of power threshold.</a:t>
            </a:r>
            <a:endParaRPr lang="en-US" sz="2600" b="1" dirty="0"/>
          </a:p>
        </p:txBody>
      </p:sp>
    </p:spTree>
    <p:extLst>
      <p:ext uri="{BB962C8B-B14F-4D97-AF65-F5344CB8AC3E}">
        <p14:creationId xmlns:p14="http://schemas.microsoft.com/office/powerpoint/2010/main" val="1565292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E68D7-688E-D497-6092-18383D228BF7}"/>
              </a:ext>
            </a:extLst>
          </p:cNvPr>
          <p:cNvSpPr txBox="1"/>
          <p:nvPr/>
        </p:nvSpPr>
        <p:spPr>
          <a:xfrm>
            <a:off x="170481" y="108488"/>
            <a:ext cx="11809709" cy="6370975"/>
          </a:xfrm>
          <a:prstGeom prst="rect">
            <a:avLst/>
          </a:prstGeom>
          <a:noFill/>
        </p:spPr>
        <p:txBody>
          <a:bodyPr wrap="square" rtlCol="0">
            <a:spAutoFit/>
          </a:bodyPr>
          <a:lstStyle/>
          <a:p>
            <a:pPr algn="just"/>
            <a:r>
              <a:rPr lang="en-US" sz="2600" b="1" dirty="0"/>
              <a:t>4. Round Robin with equal distribution: </a:t>
            </a:r>
            <a:r>
              <a:rPr lang="en-US" sz="2600" dirty="0"/>
              <a:t>This algorithm distributes local thresholds equally in a cyclic manner like in a round robin algorithm. But we give priority to maximum house in each time slot column wise and move cyclically time slot wise. </a:t>
            </a:r>
          </a:p>
          <a:p>
            <a:pPr algn="just"/>
            <a:endParaRPr lang="en-US" dirty="0"/>
          </a:p>
          <a:p>
            <a:pPr algn="just"/>
            <a:r>
              <a:rPr lang="en-US" sz="2600" dirty="0"/>
              <a:t>The main logic behind this algorithm is to fulfill the power requirement of consumer with maximum requirement then repeat this process in a cyclic manner in a round robin manner. So that load decreases gradually. </a:t>
            </a:r>
          </a:p>
          <a:p>
            <a:pPr algn="just"/>
            <a:r>
              <a:rPr lang="en-US" sz="2600" dirty="0"/>
              <a:t>Hence in every cycle we distribute the power according to maximum among every house and the residual power is distributed among other houses equally.</a:t>
            </a:r>
          </a:p>
          <a:p>
            <a:pPr algn="just"/>
            <a:endParaRPr lang="en-US" sz="2600" dirty="0"/>
          </a:p>
          <a:p>
            <a:pPr algn="just"/>
            <a:r>
              <a:rPr lang="en-US" sz="2600" dirty="0"/>
              <a:t>Advantage- In every time slot the house selected gets the maximum power threshold. And the residual power is equally distributed.</a:t>
            </a:r>
          </a:p>
          <a:p>
            <a:pPr algn="just"/>
            <a:endParaRPr lang="en-US" sz="2600" dirty="0"/>
          </a:p>
          <a:p>
            <a:pPr algn="just"/>
            <a:r>
              <a:rPr lang="en-US" sz="2600" dirty="0"/>
              <a:t>Disadvantage</a:t>
            </a:r>
            <a:r>
              <a:rPr lang="en-US" sz="2600" b="1" dirty="0"/>
              <a:t>- </a:t>
            </a:r>
            <a:r>
              <a:rPr lang="en-US" sz="2600" dirty="0"/>
              <a:t>As with each time slot the residual time slot decreases and it is associated with equal distribution it can lead to starvation for consumers with higher power consumption.</a:t>
            </a:r>
          </a:p>
        </p:txBody>
      </p:sp>
    </p:spTree>
    <p:extLst>
      <p:ext uri="{BB962C8B-B14F-4D97-AF65-F5344CB8AC3E}">
        <p14:creationId xmlns:p14="http://schemas.microsoft.com/office/powerpoint/2010/main" val="454613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CD14F0-82B7-19A6-A976-D4EBBCB89CDF}"/>
              </a:ext>
            </a:extLst>
          </p:cNvPr>
          <p:cNvSpPr txBox="1"/>
          <p:nvPr/>
        </p:nvSpPr>
        <p:spPr>
          <a:xfrm>
            <a:off x="139485" y="92990"/>
            <a:ext cx="11972440" cy="6093976"/>
          </a:xfrm>
          <a:prstGeom prst="rect">
            <a:avLst/>
          </a:prstGeom>
          <a:noFill/>
        </p:spPr>
        <p:txBody>
          <a:bodyPr wrap="square">
            <a:spAutoFit/>
          </a:bodyPr>
          <a:lstStyle/>
          <a:p>
            <a:pPr algn="just"/>
            <a:r>
              <a:rPr lang="en-US" sz="2600" b="1" dirty="0"/>
              <a:t>5.</a:t>
            </a:r>
            <a:r>
              <a:rPr lang="en-US" b="1" dirty="0"/>
              <a:t> </a:t>
            </a:r>
            <a:r>
              <a:rPr lang="en-US" sz="2600" b="1" dirty="0"/>
              <a:t>Round Robin with proportionate distribution: </a:t>
            </a:r>
            <a:r>
              <a:rPr lang="en-US" sz="2600" dirty="0"/>
              <a:t>This algorithm distributes local thresholds proportionally in a cyclic manner like in a round robin algorithm. But we give priority to maximum house in each time slot column wise and move cyclically time slot wise. The main logic behind this algorithm is to fulfill the power requirement of consumer with maximum requirement then repeat this process in a cyclic manner in a round robin manner. So that load decreases gradually. </a:t>
            </a:r>
          </a:p>
          <a:p>
            <a:pPr algn="just"/>
            <a:r>
              <a:rPr lang="en-US" sz="2600" dirty="0"/>
              <a:t>Hence in every cycle we distribute the power according to maximum among every house and the residual power is distributed among other houses proportionally.</a:t>
            </a:r>
          </a:p>
          <a:p>
            <a:pPr algn="just"/>
            <a:endParaRPr lang="en-US" sz="2600" dirty="0"/>
          </a:p>
          <a:p>
            <a:pPr algn="just"/>
            <a:r>
              <a:rPr lang="en-US" sz="2600" dirty="0"/>
              <a:t>Advantage- In every time slot the house selected gets the maximum power threshold. And the residual power is proportionally distributed.</a:t>
            </a:r>
          </a:p>
          <a:p>
            <a:pPr algn="just"/>
            <a:endParaRPr lang="en-US" sz="2600" dirty="0"/>
          </a:p>
          <a:p>
            <a:pPr algn="just"/>
            <a:r>
              <a:rPr lang="en-US" sz="2600" dirty="0"/>
              <a:t>Disadvantage</a:t>
            </a:r>
            <a:r>
              <a:rPr lang="en-US" sz="2600" b="1" dirty="0"/>
              <a:t>- </a:t>
            </a:r>
            <a:r>
              <a:rPr lang="en-US" sz="2600" dirty="0"/>
              <a:t>As with each time slot the residual time slot decreases and it is associated with proportionally distribution it can lead to violation by consumers with higher power consumption.</a:t>
            </a:r>
          </a:p>
        </p:txBody>
      </p:sp>
    </p:spTree>
    <p:extLst>
      <p:ext uri="{BB962C8B-B14F-4D97-AF65-F5344CB8AC3E}">
        <p14:creationId xmlns:p14="http://schemas.microsoft.com/office/powerpoint/2010/main" val="2210033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ED924-DEE4-F226-3772-F56C7B774D6A}"/>
              </a:ext>
            </a:extLst>
          </p:cNvPr>
          <p:cNvSpPr txBox="1"/>
          <p:nvPr/>
        </p:nvSpPr>
        <p:spPr>
          <a:xfrm>
            <a:off x="103323" y="61994"/>
            <a:ext cx="11985356" cy="5847755"/>
          </a:xfrm>
          <a:prstGeom prst="rect">
            <a:avLst/>
          </a:prstGeom>
          <a:noFill/>
        </p:spPr>
        <p:txBody>
          <a:bodyPr wrap="square" rtlCol="0">
            <a:spAutoFit/>
          </a:bodyPr>
          <a:lstStyle/>
          <a:p>
            <a:pPr algn="just"/>
            <a:r>
              <a:rPr lang="en-US" sz="2600" b="1" dirty="0"/>
              <a:t>6. Hybrid Distribution: </a:t>
            </a:r>
            <a:r>
              <a:rPr lang="en-US" sz="2600" dirty="0"/>
              <a:t>Every algorithm we discussed above has minimum violation in particular instances, so we have come up with an algorithm the violations of every algorithm at each timeslot and picks up that algorithm and applies it across the entire neighborhood. </a:t>
            </a:r>
          </a:p>
          <a:p>
            <a:pPr algn="just"/>
            <a:endParaRPr lang="en-US" dirty="0"/>
          </a:p>
          <a:p>
            <a:pPr algn="just"/>
            <a:r>
              <a:rPr lang="en-US" sz="2600" dirty="0"/>
              <a:t>This approach has many advantages like it makes sure that violation is minimum at each timeslot and since many different algorithms are present we have many options to choose from. </a:t>
            </a:r>
          </a:p>
          <a:p>
            <a:pPr algn="just"/>
            <a:endParaRPr lang="en-US" dirty="0"/>
          </a:p>
          <a:p>
            <a:pPr algn="just"/>
            <a:r>
              <a:rPr lang="en-US" sz="2600" dirty="0"/>
              <a:t>We make use of Violation Ratio for measuring performance of every algorithm that we have discussed in this paper. It helps us to understand the results of various algorithms and allow us to compare the performance of different algorithms.</a:t>
            </a:r>
          </a:p>
          <a:p>
            <a:pPr algn="just"/>
            <a:endParaRPr lang="en-US" sz="2600" dirty="0"/>
          </a:p>
          <a:p>
            <a:pPr algn="just"/>
            <a:r>
              <a:rPr lang="en-US" sz="2600" dirty="0"/>
              <a:t>The main purpose of creating Hybrid algorithm is to create a novel algorithm which can ensure more fairness among users and can reduce violation.</a:t>
            </a:r>
          </a:p>
        </p:txBody>
      </p:sp>
    </p:spTree>
    <p:extLst>
      <p:ext uri="{BB962C8B-B14F-4D97-AF65-F5344CB8AC3E}">
        <p14:creationId xmlns:p14="http://schemas.microsoft.com/office/powerpoint/2010/main" val="489026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0F8F7-D178-D0CB-21E3-EB71DDDB4E45}"/>
              </a:ext>
            </a:extLst>
          </p:cNvPr>
          <p:cNvSpPr txBox="1"/>
          <p:nvPr/>
        </p:nvSpPr>
        <p:spPr>
          <a:xfrm>
            <a:off x="1644242" y="125835"/>
            <a:ext cx="8414158" cy="553998"/>
          </a:xfrm>
          <a:prstGeom prst="rect">
            <a:avLst/>
          </a:prstGeom>
          <a:noFill/>
        </p:spPr>
        <p:txBody>
          <a:bodyPr wrap="square" rtlCol="0">
            <a:spAutoFit/>
          </a:bodyPr>
          <a:lstStyle/>
          <a:p>
            <a:pPr algn="ctr"/>
            <a:r>
              <a:rPr lang="en-US" sz="3000" b="1" dirty="0"/>
              <a:t>Results &amp; Interesting Test Cases</a:t>
            </a:r>
          </a:p>
        </p:txBody>
      </p:sp>
      <p:sp>
        <p:nvSpPr>
          <p:cNvPr id="4" name="TextBox 3">
            <a:extLst>
              <a:ext uri="{FF2B5EF4-FFF2-40B4-BE49-F238E27FC236}">
                <a16:creationId xmlns:a16="http://schemas.microsoft.com/office/drawing/2014/main" id="{DC1D24F2-2441-6DCF-43EF-AA16A732EBF4}"/>
              </a:ext>
            </a:extLst>
          </p:cNvPr>
          <p:cNvSpPr txBox="1"/>
          <p:nvPr/>
        </p:nvSpPr>
        <p:spPr>
          <a:xfrm>
            <a:off x="329267" y="679833"/>
            <a:ext cx="10601587" cy="492443"/>
          </a:xfrm>
          <a:prstGeom prst="rect">
            <a:avLst/>
          </a:prstGeom>
          <a:noFill/>
        </p:spPr>
        <p:txBody>
          <a:bodyPr wrap="square">
            <a:spAutoFit/>
          </a:bodyPr>
          <a:lstStyle/>
          <a:p>
            <a:pPr algn="ctr"/>
            <a:r>
              <a:rPr lang="en-US" sz="2600" b="1" dirty="0"/>
              <a:t>Equal</a:t>
            </a:r>
            <a:r>
              <a:rPr lang="en-US" sz="2600" dirty="0"/>
              <a:t> </a:t>
            </a:r>
            <a:r>
              <a:rPr lang="en-US" sz="2600" b="1" dirty="0"/>
              <a:t>Distribution - Austin</a:t>
            </a:r>
            <a:endParaRPr lang="en-US" sz="2600" dirty="0"/>
          </a:p>
        </p:txBody>
      </p:sp>
      <p:sp>
        <p:nvSpPr>
          <p:cNvPr id="9" name="TextBox 8">
            <a:extLst>
              <a:ext uri="{FF2B5EF4-FFF2-40B4-BE49-F238E27FC236}">
                <a16:creationId xmlns:a16="http://schemas.microsoft.com/office/drawing/2014/main" id="{B3817C3A-0A04-6F96-619D-85AD0D3FD0E9}"/>
              </a:ext>
            </a:extLst>
          </p:cNvPr>
          <p:cNvSpPr txBox="1"/>
          <p:nvPr/>
        </p:nvSpPr>
        <p:spPr>
          <a:xfrm>
            <a:off x="109057" y="6085834"/>
            <a:ext cx="12021424" cy="646331"/>
          </a:xfrm>
          <a:prstGeom prst="rect">
            <a:avLst/>
          </a:prstGeom>
          <a:noFill/>
        </p:spPr>
        <p:txBody>
          <a:bodyPr wrap="square" rtlCol="0">
            <a:spAutoFit/>
          </a:bodyPr>
          <a:lstStyle/>
          <a:p>
            <a:pPr algn="just"/>
            <a:r>
              <a:rPr lang="en-US" dirty="0"/>
              <a:t>Interesting cases- Houses 5 is able to fulfill the power demands for most of the time followed by House 4 and  House 9 with allocated threshold. For rest of the Houses we can see the power demand is more than threshold allocated.</a:t>
            </a:r>
          </a:p>
        </p:txBody>
      </p:sp>
      <p:pic>
        <p:nvPicPr>
          <p:cNvPr id="11" name="Picture 10">
            <a:extLst>
              <a:ext uri="{FF2B5EF4-FFF2-40B4-BE49-F238E27FC236}">
                <a16:creationId xmlns:a16="http://schemas.microsoft.com/office/drawing/2014/main" id="{6FC9D11D-6A7A-DD59-561C-C6E24F048430}"/>
              </a:ext>
            </a:extLst>
          </p:cNvPr>
          <p:cNvPicPr>
            <a:picLocks noChangeAspect="1"/>
          </p:cNvPicPr>
          <p:nvPr/>
        </p:nvPicPr>
        <p:blipFill>
          <a:blip r:embed="rId2"/>
          <a:stretch>
            <a:fillRect/>
          </a:stretch>
        </p:blipFill>
        <p:spPr>
          <a:xfrm>
            <a:off x="931178" y="1161348"/>
            <a:ext cx="9545633" cy="4877369"/>
          </a:xfrm>
          <a:prstGeom prst="rect">
            <a:avLst/>
          </a:prstGeom>
        </p:spPr>
      </p:pic>
    </p:spTree>
    <p:extLst>
      <p:ext uri="{BB962C8B-B14F-4D97-AF65-F5344CB8AC3E}">
        <p14:creationId xmlns:p14="http://schemas.microsoft.com/office/powerpoint/2010/main" val="1877741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A2FC6-FF1D-7866-2DD5-8665BBC75EA0}"/>
              </a:ext>
            </a:extLst>
          </p:cNvPr>
          <p:cNvSpPr txBox="1"/>
          <p:nvPr/>
        </p:nvSpPr>
        <p:spPr>
          <a:xfrm>
            <a:off x="3048699" y="0"/>
            <a:ext cx="6094602" cy="954107"/>
          </a:xfrm>
          <a:prstGeom prst="rect">
            <a:avLst/>
          </a:prstGeom>
          <a:noFill/>
        </p:spPr>
        <p:txBody>
          <a:bodyPr wrap="square">
            <a:spAutoFit/>
          </a:bodyPr>
          <a:lstStyle/>
          <a:p>
            <a:pPr algn="ctr"/>
            <a:r>
              <a:rPr lang="en-US" sz="3000" b="1" dirty="0"/>
              <a:t>Proportionate Distribution</a:t>
            </a:r>
          </a:p>
          <a:p>
            <a:pPr algn="ctr"/>
            <a:r>
              <a:rPr lang="en-US" sz="2600" b="1" dirty="0"/>
              <a:t>Austin</a:t>
            </a:r>
            <a:endParaRPr lang="en-US" sz="2600" dirty="0"/>
          </a:p>
        </p:txBody>
      </p:sp>
      <p:pic>
        <p:nvPicPr>
          <p:cNvPr id="5" name="Picture 4">
            <a:extLst>
              <a:ext uri="{FF2B5EF4-FFF2-40B4-BE49-F238E27FC236}">
                <a16:creationId xmlns:a16="http://schemas.microsoft.com/office/drawing/2014/main" id="{67857C27-B1A9-746A-0E4F-B8A79D14279F}"/>
              </a:ext>
            </a:extLst>
          </p:cNvPr>
          <p:cNvPicPr>
            <a:picLocks noChangeAspect="1"/>
          </p:cNvPicPr>
          <p:nvPr/>
        </p:nvPicPr>
        <p:blipFill>
          <a:blip r:embed="rId2"/>
          <a:stretch>
            <a:fillRect/>
          </a:stretch>
        </p:blipFill>
        <p:spPr>
          <a:xfrm>
            <a:off x="511728" y="907003"/>
            <a:ext cx="10220587" cy="5225352"/>
          </a:xfrm>
          <a:prstGeom prst="rect">
            <a:avLst/>
          </a:prstGeom>
        </p:spPr>
      </p:pic>
      <p:sp>
        <p:nvSpPr>
          <p:cNvPr id="7" name="TextBox 6">
            <a:extLst>
              <a:ext uri="{FF2B5EF4-FFF2-40B4-BE49-F238E27FC236}">
                <a16:creationId xmlns:a16="http://schemas.microsoft.com/office/drawing/2014/main" id="{015AFE6F-B8A8-0E48-9E0B-F88BBC3156C5}"/>
              </a:ext>
            </a:extLst>
          </p:cNvPr>
          <p:cNvSpPr txBox="1"/>
          <p:nvPr/>
        </p:nvSpPr>
        <p:spPr>
          <a:xfrm>
            <a:off x="67112" y="6132355"/>
            <a:ext cx="12124888" cy="646331"/>
          </a:xfrm>
          <a:prstGeom prst="rect">
            <a:avLst/>
          </a:prstGeom>
          <a:noFill/>
        </p:spPr>
        <p:txBody>
          <a:bodyPr wrap="square">
            <a:spAutoFit/>
          </a:bodyPr>
          <a:lstStyle/>
          <a:p>
            <a:pPr algn="just"/>
            <a:r>
              <a:rPr lang="en-US" dirty="0"/>
              <a:t>Interesting cases- In this neighborhood Houses 3, 7, 8, 10, 18, 19, 21, 22 have their power demands fulfilled by the allocated threshold for the rest of Houses too it seems better than Equal Distribution .</a:t>
            </a:r>
          </a:p>
        </p:txBody>
      </p:sp>
    </p:spTree>
    <p:extLst>
      <p:ext uri="{BB962C8B-B14F-4D97-AF65-F5344CB8AC3E}">
        <p14:creationId xmlns:p14="http://schemas.microsoft.com/office/powerpoint/2010/main" val="1685277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2C8045-7890-1C85-3517-C3A78607116D}"/>
              </a:ext>
            </a:extLst>
          </p:cNvPr>
          <p:cNvSpPr txBox="1"/>
          <p:nvPr/>
        </p:nvSpPr>
        <p:spPr>
          <a:xfrm>
            <a:off x="1327557" y="57265"/>
            <a:ext cx="9670409" cy="492443"/>
          </a:xfrm>
          <a:prstGeom prst="rect">
            <a:avLst/>
          </a:prstGeom>
          <a:noFill/>
        </p:spPr>
        <p:txBody>
          <a:bodyPr wrap="square">
            <a:spAutoFit/>
          </a:bodyPr>
          <a:lstStyle/>
          <a:p>
            <a:pPr algn="ctr"/>
            <a:r>
              <a:rPr lang="en-US" sz="2600" b="1" dirty="0"/>
              <a:t>Equal</a:t>
            </a:r>
            <a:r>
              <a:rPr lang="en-US" sz="2600" dirty="0"/>
              <a:t> </a:t>
            </a:r>
            <a:r>
              <a:rPr lang="en-US" sz="2600" b="1" dirty="0"/>
              <a:t>Distribution - California</a:t>
            </a:r>
            <a:endParaRPr lang="en-US" sz="2600" dirty="0"/>
          </a:p>
        </p:txBody>
      </p:sp>
      <p:pic>
        <p:nvPicPr>
          <p:cNvPr id="5" name="Picture 4">
            <a:extLst>
              <a:ext uri="{FF2B5EF4-FFF2-40B4-BE49-F238E27FC236}">
                <a16:creationId xmlns:a16="http://schemas.microsoft.com/office/drawing/2014/main" id="{465D43E8-675C-EB9A-EA61-C694D60252DC}"/>
              </a:ext>
            </a:extLst>
          </p:cNvPr>
          <p:cNvPicPr>
            <a:picLocks noChangeAspect="1"/>
          </p:cNvPicPr>
          <p:nvPr/>
        </p:nvPicPr>
        <p:blipFill>
          <a:blip r:embed="rId2"/>
          <a:stretch>
            <a:fillRect/>
          </a:stretch>
        </p:blipFill>
        <p:spPr>
          <a:xfrm>
            <a:off x="967529" y="540995"/>
            <a:ext cx="10667999" cy="5457227"/>
          </a:xfrm>
          <a:prstGeom prst="rect">
            <a:avLst/>
          </a:prstGeom>
        </p:spPr>
      </p:pic>
      <p:sp>
        <p:nvSpPr>
          <p:cNvPr id="7" name="TextBox 6">
            <a:extLst>
              <a:ext uri="{FF2B5EF4-FFF2-40B4-BE49-F238E27FC236}">
                <a16:creationId xmlns:a16="http://schemas.microsoft.com/office/drawing/2014/main" id="{4FCD1FA2-03B9-6730-A11B-1746BF942C48}"/>
              </a:ext>
            </a:extLst>
          </p:cNvPr>
          <p:cNvSpPr txBox="1"/>
          <p:nvPr/>
        </p:nvSpPr>
        <p:spPr>
          <a:xfrm>
            <a:off x="808138" y="6060343"/>
            <a:ext cx="10986782" cy="646331"/>
          </a:xfrm>
          <a:prstGeom prst="rect">
            <a:avLst/>
          </a:prstGeom>
          <a:noFill/>
        </p:spPr>
        <p:txBody>
          <a:bodyPr wrap="square">
            <a:spAutoFit/>
          </a:bodyPr>
          <a:lstStyle/>
          <a:p>
            <a:pPr algn="just"/>
            <a:r>
              <a:rPr lang="en-US" dirty="0"/>
              <a:t>Interesting cases- Only House 13 followed by 16 are able to fulfill power demands with their allocated threshold while others are not able to do so.</a:t>
            </a:r>
          </a:p>
        </p:txBody>
      </p:sp>
    </p:spTree>
    <p:extLst>
      <p:ext uri="{BB962C8B-B14F-4D97-AF65-F5344CB8AC3E}">
        <p14:creationId xmlns:p14="http://schemas.microsoft.com/office/powerpoint/2010/main" val="4107933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88167A-6E24-A5C8-254C-FC07BC71C8A7}"/>
              </a:ext>
            </a:extLst>
          </p:cNvPr>
          <p:cNvSpPr txBox="1"/>
          <p:nvPr/>
        </p:nvSpPr>
        <p:spPr>
          <a:xfrm>
            <a:off x="3048699" y="136840"/>
            <a:ext cx="6094602" cy="892552"/>
          </a:xfrm>
          <a:prstGeom prst="rect">
            <a:avLst/>
          </a:prstGeom>
          <a:noFill/>
        </p:spPr>
        <p:txBody>
          <a:bodyPr wrap="square">
            <a:spAutoFit/>
          </a:bodyPr>
          <a:lstStyle/>
          <a:p>
            <a:pPr algn="ctr"/>
            <a:r>
              <a:rPr lang="en-US" sz="2600" b="1" dirty="0"/>
              <a:t>Proportionate Distribution</a:t>
            </a:r>
          </a:p>
          <a:p>
            <a:pPr algn="ctr"/>
            <a:r>
              <a:rPr lang="en-US" sz="2600" b="1" dirty="0"/>
              <a:t>California</a:t>
            </a:r>
          </a:p>
        </p:txBody>
      </p:sp>
      <p:pic>
        <p:nvPicPr>
          <p:cNvPr id="5" name="Picture 4">
            <a:extLst>
              <a:ext uri="{FF2B5EF4-FFF2-40B4-BE49-F238E27FC236}">
                <a16:creationId xmlns:a16="http://schemas.microsoft.com/office/drawing/2014/main" id="{F472771E-1EDD-06BF-A6CA-127E9FEB9D64}"/>
              </a:ext>
            </a:extLst>
          </p:cNvPr>
          <p:cNvPicPr>
            <a:picLocks noChangeAspect="1"/>
          </p:cNvPicPr>
          <p:nvPr/>
        </p:nvPicPr>
        <p:blipFill>
          <a:blip r:embed="rId2"/>
          <a:stretch>
            <a:fillRect/>
          </a:stretch>
        </p:blipFill>
        <p:spPr>
          <a:xfrm>
            <a:off x="872455" y="1029393"/>
            <a:ext cx="10066790" cy="5168984"/>
          </a:xfrm>
          <a:prstGeom prst="rect">
            <a:avLst/>
          </a:prstGeom>
        </p:spPr>
      </p:pic>
      <p:sp>
        <p:nvSpPr>
          <p:cNvPr id="9" name="TextBox 8">
            <a:extLst>
              <a:ext uri="{FF2B5EF4-FFF2-40B4-BE49-F238E27FC236}">
                <a16:creationId xmlns:a16="http://schemas.microsoft.com/office/drawing/2014/main" id="{7C335BA5-E3C7-7794-146C-0A06CFE66BF0}"/>
              </a:ext>
            </a:extLst>
          </p:cNvPr>
          <p:cNvSpPr txBox="1"/>
          <p:nvPr/>
        </p:nvSpPr>
        <p:spPr>
          <a:xfrm>
            <a:off x="69908" y="6198377"/>
            <a:ext cx="12122092" cy="369332"/>
          </a:xfrm>
          <a:prstGeom prst="rect">
            <a:avLst/>
          </a:prstGeom>
          <a:noFill/>
        </p:spPr>
        <p:txBody>
          <a:bodyPr wrap="square">
            <a:spAutoFit/>
          </a:bodyPr>
          <a:lstStyle/>
          <a:p>
            <a:pPr algn="just"/>
            <a:r>
              <a:rPr lang="en-US" dirty="0"/>
              <a:t>Interesting cases- In this neighborhood none of the House fulfill their power demand.</a:t>
            </a:r>
          </a:p>
        </p:txBody>
      </p:sp>
    </p:spTree>
    <p:extLst>
      <p:ext uri="{BB962C8B-B14F-4D97-AF65-F5344CB8AC3E}">
        <p14:creationId xmlns:p14="http://schemas.microsoft.com/office/powerpoint/2010/main" val="2753123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8BFC7-4E6E-33C7-1087-ED5F07CD7470}"/>
              </a:ext>
            </a:extLst>
          </p:cNvPr>
          <p:cNvSpPr txBox="1"/>
          <p:nvPr/>
        </p:nvSpPr>
        <p:spPr>
          <a:xfrm>
            <a:off x="840297" y="108948"/>
            <a:ext cx="10511405" cy="492443"/>
          </a:xfrm>
          <a:prstGeom prst="rect">
            <a:avLst/>
          </a:prstGeom>
          <a:noFill/>
        </p:spPr>
        <p:txBody>
          <a:bodyPr wrap="square">
            <a:spAutoFit/>
          </a:bodyPr>
          <a:lstStyle/>
          <a:p>
            <a:pPr algn="ctr"/>
            <a:r>
              <a:rPr lang="en-US" sz="2600" b="1" dirty="0"/>
              <a:t>Equal</a:t>
            </a:r>
            <a:r>
              <a:rPr lang="en-US" sz="2600" dirty="0"/>
              <a:t> </a:t>
            </a:r>
            <a:r>
              <a:rPr lang="en-US" sz="2600" b="1" dirty="0"/>
              <a:t>Distribution – New York</a:t>
            </a:r>
            <a:endParaRPr lang="en-US" sz="2600" dirty="0"/>
          </a:p>
        </p:txBody>
      </p:sp>
      <p:pic>
        <p:nvPicPr>
          <p:cNvPr id="5" name="Picture 4">
            <a:extLst>
              <a:ext uri="{FF2B5EF4-FFF2-40B4-BE49-F238E27FC236}">
                <a16:creationId xmlns:a16="http://schemas.microsoft.com/office/drawing/2014/main" id="{8E4973DE-C74A-159D-4BF2-6248F7F19DF7}"/>
              </a:ext>
            </a:extLst>
          </p:cNvPr>
          <p:cNvPicPr>
            <a:picLocks noChangeAspect="1"/>
          </p:cNvPicPr>
          <p:nvPr/>
        </p:nvPicPr>
        <p:blipFill>
          <a:blip r:embed="rId2"/>
          <a:stretch>
            <a:fillRect/>
          </a:stretch>
        </p:blipFill>
        <p:spPr>
          <a:xfrm>
            <a:off x="638084" y="601391"/>
            <a:ext cx="10639516" cy="5466066"/>
          </a:xfrm>
          <a:prstGeom prst="rect">
            <a:avLst/>
          </a:prstGeom>
        </p:spPr>
      </p:pic>
      <p:sp>
        <p:nvSpPr>
          <p:cNvPr id="7" name="TextBox 6">
            <a:extLst>
              <a:ext uri="{FF2B5EF4-FFF2-40B4-BE49-F238E27FC236}">
                <a16:creationId xmlns:a16="http://schemas.microsoft.com/office/drawing/2014/main" id="{1A190D3B-5CEA-DB78-F3C7-1E15D7A72C2B}"/>
              </a:ext>
            </a:extLst>
          </p:cNvPr>
          <p:cNvSpPr txBox="1"/>
          <p:nvPr/>
        </p:nvSpPr>
        <p:spPr>
          <a:xfrm>
            <a:off x="463492" y="6067457"/>
            <a:ext cx="10888210" cy="646331"/>
          </a:xfrm>
          <a:prstGeom prst="rect">
            <a:avLst/>
          </a:prstGeom>
          <a:noFill/>
        </p:spPr>
        <p:txBody>
          <a:bodyPr wrap="square">
            <a:spAutoFit/>
          </a:bodyPr>
          <a:lstStyle/>
          <a:p>
            <a:pPr algn="just"/>
            <a:r>
              <a:rPr lang="en-US" dirty="0"/>
              <a:t>Interesting cases- In this neighborhood none of the House other than House 0 and House 1 seems even close to fulfill the power demands of other Houses with the allocated threshold by the algorithm.</a:t>
            </a:r>
          </a:p>
        </p:txBody>
      </p:sp>
    </p:spTree>
    <p:extLst>
      <p:ext uri="{BB962C8B-B14F-4D97-AF65-F5344CB8AC3E}">
        <p14:creationId xmlns:p14="http://schemas.microsoft.com/office/powerpoint/2010/main" val="3546085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1CE49F-5FB8-D29C-7D0E-241B39125EE3}"/>
              </a:ext>
            </a:extLst>
          </p:cNvPr>
          <p:cNvSpPr txBox="1"/>
          <p:nvPr/>
        </p:nvSpPr>
        <p:spPr>
          <a:xfrm>
            <a:off x="3048699" y="71117"/>
            <a:ext cx="6094602" cy="892552"/>
          </a:xfrm>
          <a:prstGeom prst="rect">
            <a:avLst/>
          </a:prstGeom>
          <a:noFill/>
        </p:spPr>
        <p:txBody>
          <a:bodyPr wrap="square">
            <a:spAutoFit/>
          </a:bodyPr>
          <a:lstStyle/>
          <a:p>
            <a:pPr algn="ctr"/>
            <a:r>
              <a:rPr lang="en-US" sz="2600" b="1" dirty="0"/>
              <a:t>Proportionate Distribution</a:t>
            </a:r>
          </a:p>
          <a:p>
            <a:pPr algn="ctr"/>
            <a:r>
              <a:rPr lang="en-US" sz="2600" b="1" dirty="0"/>
              <a:t>New York</a:t>
            </a:r>
          </a:p>
        </p:txBody>
      </p:sp>
      <p:pic>
        <p:nvPicPr>
          <p:cNvPr id="5" name="Picture 4">
            <a:extLst>
              <a:ext uri="{FF2B5EF4-FFF2-40B4-BE49-F238E27FC236}">
                <a16:creationId xmlns:a16="http://schemas.microsoft.com/office/drawing/2014/main" id="{A838A868-C973-A01B-9479-934E55966093}"/>
              </a:ext>
            </a:extLst>
          </p:cNvPr>
          <p:cNvPicPr>
            <a:picLocks noChangeAspect="1"/>
          </p:cNvPicPr>
          <p:nvPr/>
        </p:nvPicPr>
        <p:blipFill>
          <a:blip r:embed="rId2"/>
          <a:stretch>
            <a:fillRect/>
          </a:stretch>
        </p:blipFill>
        <p:spPr>
          <a:xfrm>
            <a:off x="1132514" y="928259"/>
            <a:ext cx="10128308" cy="5150364"/>
          </a:xfrm>
          <a:prstGeom prst="rect">
            <a:avLst/>
          </a:prstGeom>
        </p:spPr>
      </p:pic>
      <p:sp>
        <p:nvSpPr>
          <p:cNvPr id="7" name="TextBox 6">
            <a:extLst>
              <a:ext uri="{FF2B5EF4-FFF2-40B4-BE49-F238E27FC236}">
                <a16:creationId xmlns:a16="http://schemas.microsoft.com/office/drawing/2014/main" id="{C94145AE-3044-5D14-B1D4-374CA51A87FD}"/>
              </a:ext>
            </a:extLst>
          </p:cNvPr>
          <p:cNvSpPr txBox="1"/>
          <p:nvPr/>
        </p:nvSpPr>
        <p:spPr>
          <a:xfrm>
            <a:off x="97871" y="6187680"/>
            <a:ext cx="11996257" cy="646331"/>
          </a:xfrm>
          <a:prstGeom prst="rect">
            <a:avLst/>
          </a:prstGeom>
          <a:noFill/>
        </p:spPr>
        <p:txBody>
          <a:bodyPr wrap="square">
            <a:spAutoFit/>
          </a:bodyPr>
          <a:lstStyle/>
          <a:p>
            <a:pPr algn="just"/>
            <a:r>
              <a:rPr lang="en-US" dirty="0"/>
              <a:t>Interesting cases- In this neighborhood House 10 followed by 16 and 20 and fulfill their power demand from their allocated threshold. And it seems better than Equal distribution.</a:t>
            </a:r>
          </a:p>
        </p:txBody>
      </p:sp>
    </p:spTree>
    <p:extLst>
      <p:ext uri="{BB962C8B-B14F-4D97-AF65-F5344CB8AC3E}">
        <p14:creationId xmlns:p14="http://schemas.microsoft.com/office/powerpoint/2010/main" val="700123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97BEBD-B46E-602E-CAC2-82893CE1E512}"/>
              </a:ext>
            </a:extLst>
          </p:cNvPr>
          <p:cNvSpPr txBox="1"/>
          <p:nvPr/>
        </p:nvSpPr>
        <p:spPr>
          <a:xfrm>
            <a:off x="973124" y="103284"/>
            <a:ext cx="10050010" cy="892552"/>
          </a:xfrm>
          <a:prstGeom prst="rect">
            <a:avLst/>
          </a:prstGeom>
          <a:noFill/>
        </p:spPr>
        <p:txBody>
          <a:bodyPr wrap="square">
            <a:spAutoFit/>
          </a:bodyPr>
          <a:lstStyle/>
          <a:p>
            <a:pPr algn="ctr"/>
            <a:r>
              <a:rPr lang="en-US" sz="2600" b="1" dirty="0"/>
              <a:t>Round Robin Equal Distribution</a:t>
            </a:r>
          </a:p>
          <a:p>
            <a:pPr algn="ctr"/>
            <a:r>
              <a:rPr lang="en-US" sz="2600" b="1" dirty="0"/>
              <a:t>Austin</a:t>
            </a:r>
            <a:endParaRPr lang="en-US" sz="2600" dirty="0"/>
          </a:p>
        </p:txBody>
      </p:sp>
      <p:pic>
        <p:nvPicPr>
          <p:cNvPr id="5" name="Picture 4">
            <a:extLst>
              <a:ext uri="{FF2B5EF4-FFF2-40B4-BE49-F238E27FC236}">
                <a16:creationId xmlns:a16="http://schemas.microsoft.com/office/drawing/2014/main" id="{9E9DA9D4-5294-86DD-2AA4-CE765CA9745B}"/>
              </a:ext>
            </a:extLst>
          </p:cNvPr>
          <p:cNvPicPr>
            <a:picLocks noChangeAspect="1"/>
          </p:cNvPicPr>
          <p:nvPr/>
        </p:nvPicPr>
        <p:blipFill>
          <a:blip r:embed="rId2"/>
          <a:stretch>
            <a:fillRect/>
          </a:stretch>
        </p:blipFill>
        <p:spPr>
          <a:xfrm>
            <a:off x="973124" y="891581"/>
            <a:ext cx="10140159" cy="5209062"/>
          </a:xfrm>
          <a:prstGeom prst="rect">
            <a:avLst/>
          </a:prstGeom>
        </p:spPr>
      </p:pic>
      <p:sp>
        <p:nvSpPr>
          <p:cNvPr id="7" name="TextBox 6">
            <a:extLst>
              <a:ext uri="{FF2B5EF4-FFF2-40B4-BE49-F238E27FC236}">
                <a16:creationId xmlns:a16="http://schemas.microsoft.com/office/drawing/2014/main" id="{BFD6A947-4785-F10F-2699-B930E0154AED}"/>
              </a:ext>
            </a:extLst>
          </p:cNvPr>
          <p:cNvSpPr txBox="1"/>
          <p:nvPr/>
        </p:nvSpPr>
        <p:spPr>
          <a:xfrm>
            <a:off x="81093" y="6100643"/>
            <a:ext cx="12029814" cy="646331"/>
          </a:xfrm>
          <a:prstGeom prst="rect">
            <a:avLst/>
          </a:prstGeom>
          <a:noFill/>
        </p:spPr>
        <p:txBody>
          <a:bodyPr wrap="square">
            <a:spAutoFit/>
          </a:bodyPr>
          <a:lstStyle/>
          <a:p>
            <a:pPr algn="just"/>
            <a:r>
              <a:rPr lang="en-US" dirty="0"/>
              <a:t>Interesting cases- In this neighborhood Houses 0, 3, 5, 8, 10, 14, 18, 19, 20 are able to fulfill their power demand for a longer time from their allocated threshold. And others House are also able to do it but for a lower time.</a:t>
            </a:r>
          </a:p>
        </p:txBody>
      </p:sp>
    </p:spTree>
    <p:extLst>
      <p:ext uri="{BB962C8B-B14F-4D97-AF65-F5344CB8AC3E}">
        <p14:creationId xmlns:p14="http://schemas.microsoft.com/office/powerpoint/2010/main" val="3606558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E3C4F-9AA9-A3B5-866A-F913593F87A8}"/>
              </a:ext>
            </a:extLst>
          </p:cNvPr>
          <p:cNvSpPr txBox="1"/>
          <p:nvPr/>
        </p:nvSpPr>
        <p:spPr>
          <a:xfrm>
            <a:off x="3048699" y="0"/>
            <a:ext cx="6094602" cy="892552"/>
          </a:xfrm>
          <a:prstGeom prst="rect">
            <a:avLst/>
          </a:prstGeom>
          <a:noFill/>
        </p:spPr>
        <p:txBody>
          <a:bodyPr wrap="square">
            <a:spAutoFit/>
          </a:bodyPr>
          <a:lstStyle/>
          <a:p>
            <a:pPr algn="ctr"/>
            <a:r>
              <a:rPr lang="en-US" sz="2600" b="1" dirty="0"/>
              <a:t>Round Robin Proportionate Distribution</a:t>
            </a:r>
          </a:p>
          <a:p>
            <a:pPr algn="ctr"/>
            <a:r>
              <a:rPr lang="en-US" sz="2600" b="1" dirty="0"/>
              <a:t>Austin</a:t>
            </a:r>
            <a:endParaRPr lang="en-US" sz="2600" dirty="0"/>
          </a:p>
        </p:txBody>
      </p:sp>
      <p:pic>
        <p:nvPicPr>
          <p:cNvPr id="5" name="Picture 4">
            <a:extLst>
              <a:ext uri="{FF2B5EF4-FFF2-40B4-BE49-F238E27FC236}">
                <a16:creationId xmlns:a16="http://schemas.microsoft.com/office/drawing/2014/main" id="{E3F874C1-0454-FF7C-0BBD-2D47C32732B6}"/>
              </a:ext>
            </a:extLst>
          </p:cNvPr>
          <p:cNvPicPr>
            <a:picLocks noChangeAspect="1"/>
          </p:cNvPicPr>
          <p:nvPr/>
        </p:nvPicPr>
        <p:blipFill>
          <a:blip r:embed="rId2"/>
          <a:stretch>
            <a:fillRect/>
          </a:stretch>
        </p:blipFill>
        <p:spPr>
          <a:xfrm>
            <a:off x="1040235" y="827300"/>
            <a:ext cx="10111530" cy="5203399"/>
          </a:xfrm>
          <a:prstGeom prst="rect">
            <a:avLst/>
          </a:prstGeom>
        </p:spPr>
      </p:pic>
      <p:sp>
        <p:nvSpPr>
          <p:cNvPr id="7" name="TextBox 6">
            <a:extLst>
              <a:ext uri="{FF2B5EF4-FFF2-40B4-BE49-F238E27FC236}">
                <a16:creationId xmlns:a16="http://schemas.microsoft.com/office/drawing/2014/main" id="{564DCCD2-F5F6-852C-F401-F6D7E1FDBAC4}"/>
              </a:ext>
            </a:extLst>
          </p:cNvPr>
          <p:cNvSpPr txBox="1"/>
          <p:nvPr/>
        </p:nvSpPr>
        <p:spPr>
          <a:xfrm>
            <a:off x="0" y="6089422"/>
            <a:ext cx="12046591" cy="646331"/>
          </a:xfrm>
          <a:prstGeom prst="rect">
            <a:avLst/>
          </a:prstGeom>
          <a:noFill/>
        </p:spPr>
        <p:txBody>
          <a:bodyPr wrap="square">
            <a:spAutoFit/>
          </a:bodyPr>
          <a:lstStyle/>
          <a:p>
            <a:pPr algn="just"/>
            <a:r>
              <a:rPr lang="en-US" dirty="0"/>
              <a:t>Interesting cases- In this neighborhood most of the Houses fulfill their power needs from threshold allocated for a longer duration than in Round Robin Equal Distribution other than Houses 4, 5, 11, 12, 13 and 17.</a:t>
            </a:r>
          </a:p>
        </p:txBody>
      </p:sp>
    </p:spTree>
    <p:extLst>
      <p:ext uri="{BB962C8B-B14F-4D97-AF65-F5344CB8AC3E}">
        <p14:creationId xmlns:p14="http://schemas.microsoft.com/office/powerpoint/2010/main" val="1900145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3B6D0E-8207-E597-C402-021C52C31344}"/>
              </a:ext>
            </a:extLst>
          </p:cNvPr>
          <p:cNvSpPr txBox="1"/>
          <p:nvPr/>
        </p:nvSpPr>
        <p:spPr>
          <a:xfrm>
            <a:off x="957743" y="49072"/>
            <a:ext cx="10276514" cy="892552"/>
          </a:xfrm>
          <a:prstGeom prst="rect">
            <a:avLst/>
          </a:prstGeom>
          <a:noFill/>
        </p:spPr>
        <p:txBody>
          <a:bodyPr wrap="square">
            <a:spAutoFit/>
          </a:bodyPr>
          <a:lstStyle/>
          <a:p>
            <a:pPr algn="ctr"/>
            <a:r>
              <a:rPr lang="en-US" sz="2600" b="1" dirty="0"/>
              <a:t>Round Robin Equal Distribution</a:t>
            </a:r>
          </a:p>
          <a:p>
            <a:pPr algn="ctr"/>
            <a:r>
              <a:rPr lang="en-US" sz="2600" b="1" dirty="0"/>
              <a:t>California</a:t>
            </a:r>
          </a:p>
        </p:txBody>
      </p:sp>
      <p:pic>
        <p:nvPicPr>
          <p:cNvPr id="5" name="Picture 4">
            <a:extLst>
              <a:ext uri="{FF2B5EF4-FFF2-40B4-BE49-F238E27FC236}">
                <a16:creationId xmlns:a16="http://schemas.microsoft.com/office/drawing/2014/main" id="{8714F933-0440-0CCD-7CFC-8418C1DD5DC3}"/>
              </a:ext>
            </a:extLst>
          </p:cNvPr>
          <p:cNvPicPr>
            <a:picLocks noChangeAspect="1"/>
          </p:cNvPicPr>
          <p:nvPr/>
        </p:nvPicPr>
        <p:blipFill>
          <a:blip r:embed="rId2"/>
          <a:stretch>
            <a:fillRect/>
          </a:stretch>
        </p:blipFill>
        <p:spPr>
          <a:xfrm>
            <a:off x="615193" y="874512"/>
            <a:ext cx="10276514" cy="5253818"/>
          </a:xfrm>
          <a:prstGeom prst="rect">
            <a:avLst/>
          </a:prstGeom>
        </p:spPr>
      </p:pic>
      <p:sp>
        <p:nvSpPr>
          <p:cNvPr id="7" name="TextBox 6">
            <a:extLst>
              <a:ext uri="{FF2B5EF4-FFF2-40B4-BE49-F238E27FC236}">
                <a16:creationId xmlns:a16="http://schemas.microsoft.com/office/drawing/2014/main" id="{F0CB7B55-23CD-E920-AD28-6B36115BCC7D}"/>
              </a:ext>
            </a:extLst>
          </p:cNvPr>
          <p:cNvSpPr txBox="1"/>
          <p:nvPr/>
        </p:nvSpPr>
        <p:spPr>
          <a:xfrm>
            <a:off x="44742" y="6128330"/>
            <a:ext cx="12038202" cy="646331"/>
          </a:xfrm>
          <a:prstGeom prst="rect">
            <a:avLst/>
          </a:prstGeom>
          <a:noFill/>
        </p:spPr>
        <p:txBody>
          <a:bodyPr wrap="square">
            <a:spAutoFit/>
          </a:bodyPr>
          <a:lstStyle/>
          <a:p>
            <a:pPr algn="just"/>
            <a:r>
              <a:rPr lang="en-US" dirty="0"/>
              <a:t>Interesting cases- In this neighborhood most of the Houses are able to fulfill their power needs from threshold allocated but not all the time other than House 0, 4, 6, 8 19 and 20.</a:t>
            </a:r>
          </a:p>
        </p:txBody>
      </p:sp>
    </p:spTree>
    <p:extLst>
      <p:ext uri="{BB962C8B-B14F-4D97-AF65-F5344CB8AC3E}">
        <p14:creationId xmlns:p14="http://schemas.microsoft.com/office/powerpoint/2010/main" val="2239965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27FF05-0A86-B9BE-8A6A-F5599FBA6873}"/>
              </a:ext>
            </a:extLst>
          </p:cNvPr>
          <p:cNvSpPr txBox="1"/>
          <p:nvPr/>
        </p:nvSpPr>
        <p:spPr>
          <a:xfrm>
            <a:off x="3048699" y="0"/>
            <a:ext cx="6094602" cy="892552"/>
          </a:xfrm>
          <a:prstGeom prst="rect">
            <a:avLst/>
          </a:prstGeom>
          <a:noFill/>
        </p:spPr>
        <p:txBody>
          <a:bodyPr wrap="square">
            <a:spAutoFit/>
          </a:bodyPr>
          <a:lstStyle/>
          <a:p>
            <a:pPr algn="ctr"/>
            <a:r>
              <a:rPr lang="en-US" sz="2600" b="1" dirty="0"/>
              <a:t>Round Robin Proportionate Distribution</a:t>
            </a:r>
          </a:p>
          <a:p>
            <a:pPr algn="ctr"/>
            <a:r>
              <a:rPr lang="en-US" sz="2600" b="1" dirty="0"/>
              <a:t>California</a:t>
            </a:r>
            <a:endParaRPr lang="en-US" sz="2600" dirty="0"/>
          </a:p>
        </p:txBody>
      </p:sp>
      <p:pic>
        <p:nvPicPr>
          <p:cNvPr id="5" name="Picture 4">
            <a:extLst>
              <a:ext uri="{FF2B5EF4-FFF2-40B4-BE49-F238E27FC236}">
                <a16:creationId xmlns:a16="http://schemas.microsoft.com/office/drawing/2014/main" id="{22066979-43D3-7C46-B353-17ABE8C97C40}"/>
              </a:ext>
            </a:extLst>
          </p:cNvPr>
          <p:cNvPicPr>
            <a:picLocks noChangeAspect="1"/>
          </p:cNvPicPr>
          <p:nvPr/>
        </p:nvPicPr>
        <p:blipFill>
          <a:blip r:embed="rId2"/>
          <a:stretch>
            <a:fillRect/>
          </a:stretch>
        </p:blipFill>
        <p:spPr>
          <a:xfrm>
            <a:off x="918595" y="892552"/>
            <a:ext cx="10354810" cy="5319642"/>
          </a:xfrm>
          <a:prstGeom prst="rect">
            <a:avLst/>
          </a:prstGeom>
        </p:spPr>
      </p:pic>
      <p:sp>
        <p:nvSpPr>
          <p:cNvPr id="7" name="TextBox 6">
            <a:extLst>
              <a:ext uri="{FF2B5EF4-FFF2-40B4-BE49-F238E27FC236}">
                <a16:creationId xmlns:a16="http://schemas.microsoft.com/office/drawing/2014/main" id="{496E7E2A-EBE3-1DA0-765A-63CCB7FB4FB2}"/>
              </a:ext>
            </a:extLst>
          </p:cNvPr>
          <p:cNvSpPr txBox="1"/>
          <p:nvPr/>
        </p:nvSpPr>
        <p:spPr>
          <a:xfrm>
            <a:off x="118844" y="6110839"/>
            <a:ext cx="11954312" cy="923330"/>
          </a:xfrm>
          <a:prstGeom prst="rect">
            <a:avLst/>
          </a:prstGeom>
          <a:noFill/>
        </p:spPr>
        <p:txBody>
          <a:bodyPr wrap="square">
            <a:spAutoFit/>
          </a:bodyPr>
          <a:lstStyle/>
          <a:p>
            <a:pPr algn="just"/>
            <a:r>
              <a:rPr lang="en-US" dirty="0"/>
              <a:t>Interesting cases- Interesting cases- In this neighborhood most of the Houses fulfill their power needs from threshold allocated for a longer duration than in Round Robin Equal Distribution other than Houses 1 , 6, 8, 13 and 19.</a:t>
            </a:r>
          </a:p>
          <a:p>
            <a:pPr algn="just"/>
            <a:endParaRPr lang="en-US" dirty="0"/>
          </a:p>
        </p:txBody>
      </p:sp>
    </p:spTree>
    <p:extLst>
      <p:ext uri="{BB962C8B-B14F-4D97-AF65-F5344CB8AC3E}">
        <p14:creationId xmlns:p14="http://schemas.microsoft.com/office/powerpoint/2010/main" val="370208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7C57B3-3264-BF06-325C-7D126BFF061D}"/>
              </a:ext>
            </a:extLst>
          </p:cNvPr>
          <p:cNvSpPr txBox="1"/>
          <p:nvPr/>
        </p:nvSpPr>
        <p:spPr>
          <a:xfrm>
            <a:off x="1098958" y="71959"/>
            <a:ext cx="10242958" cy="892552"/>
          </a:xfrm>
          <a:prstGeom prst="rect">
            <a:avLst/>
          </a:prstGeom>
          <a:noFill/>
        </p:spPr>
        <p:txBody>
          <a:bodyPr wrap="square">
            <a:spAutoFit/>
          </a:bodyPr>
          <a:lstStyle/>
          <a:p>
            <a:pPr algn="ctr"/>
            <a:r>
              <a:rPr lang="en-US" sz="2600" b="1" dirty="0"/>
              <a:t>Round Robin Equal Distribution</a:t>
            </a:r>
          </a:p>
          <a:p>
            <a:pPr algn="ctr"/>
            <a:r>
              <a:rPr lang="en-US" sz="2600" b="1" dirty="0"/>
              <a:t>New York</a:t>
            </a:r>
          </a:p>
        </p:txBody>
      </p:sp>
      <p:pic>
        <p:nvPicPr>
          <p:cNvPr id="5" name="Picture 4">
            <a:extLst>
              <a:ext uri="{FF2B5EF4-FFF2-40B4-BE49-F238E27FC236}">
                <a16:creationId xmlns:a16="http://schemas.microsoft.com/office/drawing/2014/main" id="{A0E630DF-7DAC-4361-D7EA-BE964F077E3A}"/>
              </a:ext>
            </a:extLst>
          </p:cNvPr>
          <p:cNvPicPr>
            <a:picLocks noChangeAspect="1"/>
          </p:cNvPicPr>
          <p:nvPr/>
        </p:nvPicPr>
        <p:blipFill>
          <a:blip r:embed="rId2"/>
          <a:stretch>
            <a:fillRect/>
          </a:stretch>
        </p:blipFill>
        <p:spPr>
          <a:xfrm>
            <a:off x="788565" y="1006456"/>
            <a:ext cx="9996880" cy="5113535"/>
          </a:xfrm>
          <a:prstGeom prst="rect">
            <a:avLst/>
          </a:prstGeom>
        </p:spPr>
      </p:pic>
      <p:sp>
        <p:nvSpPr>
          <p:cNvPr id="7" name="TextBox 6">
            <a:extLst>
              <a:ext uri="{FF2B5EF4-FFF2-40B4-BE49-F238E27FC236}">
                <a16:creationId xmlns:a16="http://schemas.microsoft.com/office/drawing/2014/main" id="{C9AE9701-44E0-E4AA-546E-8C94379C333E}"/>
              </a:ext>
            </a:extLst>
          </p:cNvPr>
          <p:cNvSpPr txBox="1"/>
          <p:nvPr/>
        </p:nvSpPr>
        <p:spPr>
          <a:xfrm>
            <a:off x="81093" y="6119991"/>
            <a:ext cx="12029813" cy="646331"/>
          </a:xfrm>
          <a:prstGeom prst="rect">
            <a:avLst/>
          </a:prstGeom>
          <a:noFill/>
        </p:spPr>
        <p:txBody>
          <a:bodyPr wrap="square">
            <a:spAutoFit/>
          </a:bodyPr>
          <a:lstStyle/>
          <a:p>
            <a:pPr algn="just"/>
            <a:r>
              <a:rPr lang="en-US" dirty="0"/>
              <a:t>Interesting cases- In this neighborhood most of the Houses fulfill their power needs from threshold allocated for a shorter duration other than House 1, 9 and 22.</a:t>
            </a:r>
          </a:p>
        </p:txBody>
      </p:sp>
    </p:spTree>
    <p:extLst>
      <p:ext uri="{BB962C8B-B14F-4D97-AF65-F5344CB8AC3E}">
        <p14:creationId xmlns:p14="http://schemas.microsoft.com/office/powerpoint/2010/main" val="3304699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AD62C1-E194-7EC7-ED56-D15715F2DB3B}"/>
              </a:ext>
            </a:extLst>
          </p:cNvPr>
          <p:cNvSpPr txBox="1"/>
          <p:nvPr/>
        </p:nvSpPr>
        <p:spPr>
          <a:xfrm>
            <a:off x="3048699" y="62728"/>
            <a:ext cx="6094602" cy="892552"/>
          </a:xfrm>
          <a:prstGeom prst="rect">
            <a:avLst/>
          </a:prstGeom>
          <a:noFill/>
        </p:spPr>
        <p:txBody>
          <a:bodyPr wrap="square">
            <a:spAutoFit/>
          </a:bodyPr>
          <a:lstStyle/>
          <a:p>
            <a:pPr algn="ctr"/>
            <a:r>
              <a:rPr lang="en-US" sz="2600" b="1" dirty="0"/>
              <a:t>Round Robin Proportionate Distribution</a:t>
            </a:r>
          </a:p>
          <a:p>
            <a:pPr algn="ctr"/>
            <a:r>
              <a:rPr lang="en-US" sz="2600" b="1" dirty="0"/>
              <a:t>New York</a:t>
            </a:r>
            <a:endParaRPr lang="en-US" sz="2600" dirty="0"/>
          </a:p>
        </p:txBody>
      </p:sp>
      <p:pic>
        <p:nvPicPr>
          <p:cNvPr id="5" name="Picture 4">
            <a:extLst>
              <a:ext uri="{FF2B5EF4-FFF2-40B4-BE49-F238E27FC236}">
                <a16:creationId xmlns:a16="http://schemas.microsoft.com/office/drawing/2014/main" id="{140767CC-5B61-9185-3CD1-36ECF4718BD0}"/>
              </a:ext>
            </a:extLst>
          </p:cNvPr>
          <p:cNvPicPr>
            <a:picLocks noChangeAspect="1"/>
          </p:cNvPicPr>
          <p:nvPr/>
        </p:nvPicPr>
        <p:blipFill>
          <a:blip r:embed="rId2"/>
          <a:stretch>
            <a:fillRect/>
          </a:stretch>
        </p:blipFill>
        <p:spPr>
          <a:xfrm>
            <a:off x="1082180" y="955280"/>
            <a:ext cx="10027640" cy="5126955"/>
          </a:xfrm>
          <a:prstGeom prst="rect">
            <a:avLst/>
          </a:prstGeom>
        </p:spPr>
      </p:pic>
      <p:sp>
        <p:nvSpPr>
          <p:cNvPr id="7" name="TextBox 6">
            <a:extLst>
              <a:ext uri="{FF2B5EF4-FFF2-40B4-BE49-F238E27FC236}">
                <a16:creationId xmlns:a16="http://schemas.microsoft.com/office/drawing/2014/main" id="{66747BD9-16B6-4912-4BFA-A802A685EC54}"/>
              </a:ext>
            </a:extLst>
          </p:cNvPr>
          <p:cNvSpPr txBox="1"/>
          <p:nvPr/>
        </p:nvSpPr>
        <p:spPr>
          <a:xfrm>
            <a:off x="106260" y="6082235"/>
            <a:ext cx="11979479" cy="646331"/>
          </a:xfrm>
          <a:prstGeom prst="rect">
            <a:avLst/>
          </a:prstGeom>
          <a:noFill/>
        </p:spPr>
        <p:txBody>
          <a:bodyPr wrap="square">
            <a:spAutoFit/>
          </a:bodyPr>
          <a:lstStyle/>
          <a:p>
            <a:pPr algn="just"/>
            <a:r>
              <a:rPr lang="en-US" dirty="0"/>
              <a:t>Interesting cases- In this neighborhood Houses are able to fulfill their power demands for a longer duration than in case of House 3, 4, 8, 13, w20 and 22.</a:t>
            </a:r>
          </a:p>
        </p:txBody>
      </p:sp>
    </p:spTree>
    <p:extLst>
      <p:ext uri="{BB962C8B-B14F-4D97-AF65-F5344CB8AC3E}">
        <p14:creationId xmlns:p14="http://schemas.microsoft.com/office/powerpoint/2010/main" val="544081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48E9A0-A085-81D3-ED99-5ADD3C165C1C}"/>
              </a:ext>
            </a:extLst>
          </p:cNvPr>
          <p:cNvSpPr txBox="1"/>
          <p:nvPr/>
        </p:nvSpPr>
        <p:spPr>
          <a:xfrm>
            <a:off x="3048699" y="87895"/>
            <a:ext cx="6094602" cy="892552"/>
          </a:xfrm>
          <a:prstGeom prst="rect">
            <a:avLst/>
          </a:prstGeom>
          <a:noFill/>
        </p:spPr>
        <p:txBody>
          <a:bodyPr wrap="square">
            <a:spAutoFit/>
          </a:bodyPr>
          <a:lstStyle/>
          <a:p>
            <a:pPr algn="ctr"/>
            <a:r>
              <a:rPr lang="en-US" sz="2600" b="1" dirty="0"/>
              <a:t>Consumer Usage Distribution</a:t>
            </a:r>
          </a:p>
          <a:p>
            <a:pPr algn="ctr"/>
            <a:r>
              <a:rPr lang="en-US" sz="2600" b="1" dirty="0"/>
              <a:t>Austin</a:t>
            </a:r>
            <a:endParaRPr lang="en-US" sz="2600" dirty="0"/>
          </a:p>
        </p:txBody>
      </p:sp>
      <p:pic>
        <p:nvPicPr>
          <p:cNvPr id="5" name="Picture 4">
            <a:extLst>
              <a:ext uri="{FF2B5EF4-FFF2-40B4-BE49-F238E27FC236}">
                <a16:creationId xmlns:a16="http://schemas.microsoft.com/office/drawing/2014/main" id="{108B5793-B77B-C18A-F8B5-3AB822073DA3}"/>
              </a:ext>
            </a:extLst>
          </p:cNvPr>
          <p:cNvPicPr>
            <a:picLocks noChangeAspect="1"/>
          </p:cNvPicPr>
          <p:nvPr/>
        </p:nvPicPr>
        <p:blipFill>
          <a:blip r:embed="rId2"/>
          <a:stretch>
            <a:fillRect/>
          </a:stretch>
        </p:blipFill>
        <p:spPr>
          <a:xfrm>
            <a:off x="763398" y="980447"/>
            <a:ext cx="10234569" cy="5221146"/>
          </a:xfrm>
          <a:prstGeom prst="rect">
            <a:avLst/>
          </a:prstGeom>
        </p:spPr>
      </p:pic>
      <p:sp>
        <p:nvSpPr>
          <p:cNvPr id="7" name="TextBox 6">
            <a:extLst>
              <a:ext uri="{FF2B5EF4-FFF2-40B4-BE49-F238E27FC236}">
                <a16:creationId xmlns:a16="http://schemas.microsoft.com/office/drawing/2014/main" id="{049A1620-B024-DA8F-C43F-F25BE0BECAB1}"/>
              </a:ext>
            </a:extLst>
          </p:cNvPr>
          <p:cNvSpPr txBox="1"/>
          <p:nvPr/>
        </p:nvSpPr>
        <p:spPr>
          <a:xfrm>
            <a:off x="0" y="6117514"/>
            <a:ext cx="12046591" cy="646331"/>
          </a:xfrm>
          <a:prstGeom prst="rect">
            <a:avLst/>
          </a:prstGeom>
          <a:noFill/>
        </p:spPr>
        <p:txBody>
          <a:bodyPr wrap="square">
            <a:spAutoFit/>
          </a:bodyPr>
          <a:lstStyle/>
          <a:p>
            <a:pPr algn="just"/>
            <a:r>
              <a:rPr lang="en-US" dirty="0"/>
              <a:t>Interesting cases- In this neighborhood in case of House 2, 4 and 5 we can see that low power threshold is allocated when power demand is high and more power is allocated when the power demand is low.</a:t>
            </a:r>
          </a:p>
        </p:txBody>
      </p:sp>
    </p:spTree>
    <p:extLst>
      <p:ext uri="{BB962C8B-B14F-4D97-AF65-F5344CB8AC3E}">
        <p14:creationId xmlns:p14="http://schemas.microsoft.com/office/powerpoint/2010/main" val="1864464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85AD07-651D-7C32-E731-32E324F15D0C}"/>
              </a:ext>
            </a:extLst>
          </p:cNvPr>
          <p:cNvSpPr txBox="1"/>
          <p:nvPr/>
        </p:nvSpPr>
        <p:spPr>
          <a:xfrm>
            <a:off x="3048699" y="104673"/>
            <a:ext cx="6094602" cy="892552"/>
          </a:xfrm>
          <a:prstGeom prst="rect">
            <a:avLst/>
          </a:prstGeom>
          <a:noFill/>
        </p:spPr>
        <p:txBody>
          <a:bodyPr wrap="square">
            <a:spAutoFit/>
          </a:bodyPr>
          <a:lstStyle/>
          <a:p>
            <a:pPr algn="ctr"/>
            <a:r>
              <a:rPr lang="en-US" sz="2600" b="1" dirty="0"/>
              <a:t>Consumer Usage Distribution</a:t>
            </a:r>
          </a:p>
          <a:p>
            <a:pPr algn="ctr"/>
            <a:r>
              <a:rPr lang="en-US" sz="2600" b="1" dirty="0"/>
              <a:t>California</a:t>
            </a:r>
            <a:endParaRPr lang="en-US" sz="2600" dirty="0"/>
          </a:p>
        </p:txBody>
      </p:sp>
      <p:pic>
        <p:nvPicPr>
          <p:cNvPr id="5" name="Picture 4">
            <a:extLst>
              <a:ext uri="{FF2B5EF4-FFF2-40B4-BE49-F238E27FC236}">
                <a16:creationId xmlns:a16="http://schemas.microsoft.com/office/drawing/2014/main" id="{E5552647-5AAD-63C8-9DDA-5D21724FA340}"/>
              </a:ext>
            </a:extLst>
          </p:cNvPr>
          <p:cNvPicPr>
            <a:picLocks noChangeAspect="1"/>
          </p:cNvPicPr>
          <p:nvPr/>
        </p:nvPicPr>
        <p:blipFill rotWithShape="1">
          <a:blip r:embed="rId2"/>
          <a:srcRect b="3430"/>
          <a:stretch/>
        </p:blipFill>
        <p:spPr>
          <a:xfrm>
            <a:off x="1042332" y="894853"/>
            <a:ext cx="10107336" cy="5273256"/>
          </a:xfrm>
          <a:prstGeom prst="rect">
            <a:avLst/>
          </a:prstGeom>
        </p:spPr>
      </p:pic>
      <p:sp>
        <p:nvSpPr>
          <p:cNvPr id="7" name="TextBox 6">
            <a:extLst>
              <a:ext uri="{FF2B5EF4-FFF2-40B4-BE49-F238E27FC236}">
                <a16:creationId xmlns:a16="http://schemas.microsoft.com/office/drawing/2014/main" id="{E8432E7D-9FD3-50D2-3DB4-4F3AF88DDD73}"/>
              </a:ext>
            </a:extLst>
          </p:cNvPr>
          <p:cNvSpPr txBox="1"/>
          <p:nvPr/>
        </p:nvSpPr>
        <p:spPr>
          <a:xfrm>
            <a:off x="0" y="6106996"/>
            <a:ext cx="12088535" cy="646331"/>
          </a:xfrm>
          <a:prstGeom prst="rect">
            <a:avLst/>
          </a:prstGeom>
          <a:noFill/>
        </p:spPr>
        <p:txBody>
          <a:bodyPr wrap="square">
            <a:spAutoFit/>
          </a:bodyPr>
          <a:lstStyle/>
          <a:p>
            <a:pPr algn="just"/>
            <a:r>
              <a:rPr lang="en-US" dirty="0"/>
              <a:t>Interesting cases- In this neighborhood in case most of the Houses we can see that low power threshold is allocated when power  demand is high and more power is allocated in House 13 and 16 when the power demand is low.</a:t>
            </a:r>
          </a:p>
        </p:txBody>
      </p:sp>
    </p:spTree>
    <p:extLst>
      <p:ext uri="{BB962C8B-B14F-4D97-AF65-F5344CB8AC3E}">
        <p14:creationId xmlns:p14="http://schemas.microsoft.com/office/powerpoint/2010/main" val="2458688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119B54-6B45-5599-3213-30555E9A60DA}"/>
              </a:ext>
            </a:extLst>
          </p:cNvPr>
          <p:cNvSpPr txBox="1"/>
          <p:nvPr/>
        </p:nvSpPr>
        <p:spPr>
          <a:xfrm>
            <a:off x="3048699" y="92279"/>
            <a:ext cx="6094602" cy="892552"/>
          </a:xfrm>
          <a:prstGeom prst="rect">
            <a:avLst/>
          </a:prstGeom>
          <a:noFill/>
        </p:spPr>
        <p:txBody>
          <a:bodyPr wrap="square">
            <a:spAutoFit/>
          </a:bodyPr>
          <a:lstStyle/>
          <a:p>
            <a:pPr algn="ctr"/>
            <a:r>
              <a:rPr lang="en-US" sz="2600" b="1" dirty="0"/>
              <a:t>Consumer Usage Distribution</a:t>
            </a:r>
          </a:p>
          <a:p>
            <a:pPr algn="ctr"/>
            <a:r>
              <a:rPr lang="en-US" sz="2600" b="1" dirty="0"/>
              <a:t>New York</a:t>
            </a:r>
            <a:endParaRPr lang="en-US" sz="2600" dirty="0"/>
          </a:p>
        </p:txBody>
      </p:sp>
      <p:pic>
        <p:nvPicPr>
          <p:cNvPr id="5" name="Picture 4">
            <a:extLst>
              <a:ext uri="{FF2B5EF4-FFF2-40B4-BE49-F238E27FC236}">
                <a16:creationId xmlns:a16="http://schemas.microsoft.com/office/drawing/2014/main" id="{358CC3BC-62AC-1B1B-43E9-2C198D085632}"/>
              </a:ext>
            </a:extLst>
          </p:cNvPr>
          <p:cNvPicPr>
            <a:picLocks noChangeAspect="1"/>
          </p:cNvPicPr>
          <p:nvPr/>
        </p:nvPicPr>
        <p:blipFill>
          <a:blip r:embed="rId2"/>
          <a:stretch>
            <a:fillRect/>
          </a:stretch>
        </p:blipFill>
        <p:spPr>
          <a:xfrm>
            <a:off x="1360414" y="971399"/>
            <a:ext cx="9471171" cy="4915201"/>
          </a:xfrm>
          <a:prstGeom prst="rect">
            <a:avLst/>
          </a:prstGeom>
        </p:spPr>
      </p:pic>
      <p:sp>
        <p:nvSpPr>
          <p:cNvPr id="7" name="TextBox 6">
            <a:extLst>
              <a:ext uri="{FF2B5EF4-FFF2-40B4-BE49-F238E27FC236}">
                <a16:creationId xmlns:a16="http://schemas.microsoft.com/office/drawing/2014/main" id="{083FFADC-BCC4-7957-9A5C-D3114EEAF92D}"/>
              </a:ext>
            </a:extLst>
          </p:cNvPr>
          <p:cNvSpPr txBox="1"/>
          <p:nvPr/>
        </p:nvSpPr>
        <p:spPr>
          <a:xfrm>
            <a:off x="94376" y="5842390"/>
            <a:ext cx="11994160" cy="646331"/>
          </a:xfrm>
          <a:prstGeom prst="rect">
            <a:avLst/>
          </a:prstGeom>
          <a:noFill/>
        </p:spPr>
        <p:txBody>
          <a:bodyPr wrap="square">
            <a:spAutoFit/>
          </a:bodyPr>
          <a:lstStyle/>
          <a:p>
            <a:pPr algn="just"/>
            <a:r>
              <a:rPr lang="en-US" dirty="0"/>
              <a:t>Interesting cases- In this neighborhood in case most of the Houses we can see that low power threshold is allocated when power  demand is high and more power is allocated in House 0, 1 and 15 when the power demand is low.</a:t>
            </a:r>
          </a:p>
        </p:txBody>
      </p:sp>
    </p:spTree>
    <p:extLst>
      <p:ext uri="{BB962C8B-B14F-4D97-AF65-F5344CB8AC3E}">
        <p14:creationId xmlns:p14="http://schemas.microsoft.com/office/powerpoint/2010/main" val="1380377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58A146-1474-F47B-BD9D-ED4FBC373156}"/>
              </a:ext>
            </a:extLst>
          </p:cNvPr>
          <p:cNvPicPr>
            <a:picLocks noChangeAspect="1"/>
          </p:cNvPicPr>
          <p:nvPr/>
        </p:nvPicPr>
        <p:blipFill>
          <a:blip r:embed="rId2"/>
          <a:stretch>
            <a:fillRect/>
          </a:stretch>
        </p:blipFill>
        <p:spPr>
          <a:xfrm>
            <a:off x="2166945" y="589255"/>
            <a:ext cx="7858109" cy="6268745"/>
          </a:xfrm>
          <a:prstGeom prst="rect">
            <a:avLst/>
          </a:prstGeom>
        </p:spPr>
      </p:pic>
      <p:sp>
        <p:nvSpPr>
          <p:cNvPr id="5" name="TextBox 4">
            <a:extLst>
              <a:ext uri="{FF2B5EF4-FFF2-40B4-BE49-F238E27FC236}">
                <a16:creationId xmlns:a16="http://schemas.microsoft.com/office/drawing/2014/main" id="{EC1F18B4-1474-9C56-82A2-0ECE8099CEF5}"/>
              </a:ext>
            </a:extLst>
          </p:cNvPr>
          <p:cNvSpPr txBox="1"/>
          <p:nvPr/>
        </p:nvSpPr>
        <p:spPr>
          <a:xfrm>
            <a:off x="1667660" y="96812"/>
            <a:ext cx="8856678" cy="492443"/>
          </a:xfrm>
          <a:prstGeom prst="rect">
            <a:avLst/>
          </a:prstGeom>
          <a:noFill/>
        </p:spPr>
        <p:txBody>
          <a:bodyPr wrap="square">
            <a:spAutoFit/>
          </a:bodyPr>
          <a:lstStyle/>
          <a:p>
            <a:pPr algn="ctr"/>
            <a:r>
              <a:rPr lang="en-US" sz="2600" b="1" dirty="0"/>
              <a:t>Violation for Equal Distribution</a:t>
            </a:r>
          </a:p>
        </p:txBody>
      </p:sp>
    </p:spTree>
    <p:extLst>
      <p:ext uri="{BB962C8B-B14F-4D97-AF65-F5344CB8AC3E}">
        <p14:creationId xmlns:p14="http://schemas.microsoft.com/office/powerpoint/2010/main" val="2449171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31F56-5B9B-E796-B2D5-411DAD5FD774}"/>
              </a:ext>
            </a:extLst>
          </p:cNvPr>
          <p:cNvSpPr txBox="1"/>
          <p:nvPr/>
        </p:nvSpPr>
        <p:spPr>
          <a:xfrm>
            <a:off x="1258349" y="117338"/>
            <a:ext cx="8925886" cy="492443"/>
          </a:xfrm>
          <a:prstGeom prst="rect">
            <a:avLst/>
          </a:prstGeom>
          <a:noFill/>
        </p:spPr>
        <p:txBody>
          <a:bodyPr wrap="square">
            <a:spAutoFit/>
          </a:bodyPr>
          <a:lstStyle/>
          <a:p>
            <a:pPr algn="ctr"/>
            <a:r>
              <a:rPr lang="en-US" sz="2600" b="1" dirty="0"/>
              <a:t>Violation for Proportionate Distribution</a:t>
            </a:r>
          </a:p>
        </p:txBody>
      </p:sp>
      <p:pic>
        <p:nvPicPr>
          <p:cNvPr id="5" name="Picture 4">
            <a:extLst>
              <a:ext uri="{FF2B5EF4-FFF2-40B4-BE49-F238E27FC236}">
                <a16:creationId xmlns:a16="http://schemas.microsoft.com/office/drawing/2014/main" id="{3569D754-7E2E-2587-54E9-DC708A4EB159}"/>
              </a:ext>
            </a:extLst>
          </p:cNvPr>
          <p:cNvPicPr>
            <a:picLocks noChangeAspect="1"/>
          </p:cNvPicPr>
          <p:nvPr/>
        </p:nvPicPr>
        <p:blipFill>
          <a:blip r:embed="rId2"/>
          <a:stretch>
            <a:fillRect/>
          </a:stretch>
        </p:blipFill>
        <p:spPr>
          <a:xfrm>
            <a:off x="2155970" y="557458"/>
            <a:ext cx="7734222" cy="6183204"/>
          </a:xfrm>
          <a:prstGeom prst="rect">
            <a:avLst/>
          </a:prstGeom>
        </p:spPr>
      </p:pic>
    </p:spTree>
    <p:extLst>
      <p:ext uri="{BB962C8B-B14F-4D97-AF65-F5344CB8AC3E}">
        <p14:creationId xmlns:p14="http://schemas.microsoft.com/office/powerpoint/2010/main" val="3353297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EA38C8-20E5-D0B4-C516-8D1E3467014D}"/>
              </a:ext>
            </a:extLst>
          </p:cNvPr>
          <p:cNvSpPr txBox="1"/>
          <p:nvPr/>
        </p:nvSpPr>
        <p:spPr>
          <a:xfrm>
            <a:off x="2406591" y="92171"/>
            <a:ext cx="7378817" cy="492443"/>
          </a:xfrm>
          <a:prstGeom prst="rect">
            <a:avLst/>
          </a:prstGeom>
          <a:noFill/>
        </p:spPr>
        <p:txBody>
          <a:bodyPr wrap="square">
            <a:spAutoFit/>
          </a:bodyPr>
          <a:lstStyle/>
          <a:p>
            <a:pPr algn="ctr"/>
            <a:r>
              <a:rPr lang="en-US" sz="2600" b="1" dirty="0"/>
              <a:t>Violation for Round Robin Equal Distribution</a:t>
            </a:r>
          </a:p>
        </p:txBody>
      </p:sp>
      <p:pic>
        <p:nvPicPr>
          <p:cNvPr id="5" name="Picture 4">
            <a:extLst>
              <a:ext uri="{FF2B5EF4-FFF2-40B4-BE49-F238E27FC236}">
                <a16:creationId xmlns:a16="http://schemas.microsoft.com/office/drawing/2014/main" id="{36B9A02E-2C5C-7824-9BE8-C2E40C8C7C24}"/>
              </a:ext>
            </a:extLst>
          </p:cNvPr>
          <p:cNvPicPr>
            <a:picLocks noChangeAspect="1"/>
          </p:cNvPicPr>
          <p:nvPr/>
        </p:nvPicPr>
        <p:blipFill>
          <a:blip r:embed="rId2"/>
          <a:stretch>
            <a:fillRect/>
          </a:stretch>
        </p:blipFill>
        <p:spPr>
          <a:xfrm>
            <a:off x="2266739" y="584614"/>
            <a:ext cx="7658519" cy="6063669"/>
          </a:xfrm>
          <a:prstGeom prst="rect">
            <a:avLst/>
          </a:prstGeom>
        </p:spPr>
      </p:pic>
    </p:spTree>
    <p:extLst>
      <p:ext uri="{BB962C8B-B14F-4D97-AF65-F5344CB8AC3E}">
        <p14:creationId xmlns:p14="http://schemas.microsoft.com/office/powerpoint/2010/main" val="827835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C06D77-7BE0-3B62-94AD-1AA26D064627}"/>
              </a:ext>
            </a:extLst>
          </p:cNvPr>
          <p:cNvSpPr txBox="1"/>
          <p:nvPr/>
        </p:nvSpPr>
        <p:spPr>
          <a:xfrm>
            <a:off x="2196168" y="83782"/>
            <a:ext cx="7799664" cy="492443"/>
          </a:xfrm>
          <a:prstGeom prst="rect">
            <a:avLst/>
          </a:prstGeom>
          <a:noFill/>
        </p:spPr>
        <p:txBody>
          <a:bodyPr wrap="square">
            <a:spAutoFit/>
          </a:bodyPr>
          <a:lstStyle/>
          <a:p>
            <a:pPr algn="ctr"/>
            <a:r>
              <a:rPr lang="en-US" sz="2600" b="1" dirty="0"/>
              <a:t>Violation for Round Robin Proportionate Distribution</a:t>
            </a:r>
          </a:p>
        </p:txBody>
      </p:sp>
      <p:pic>
        <p:nvPicPr>
          <p:cNvPr id="5" name="Picture 4">
            <a:extLst>
              <a:ext uri="{FF2B5EF4-FFF2-40B4-BE49-F238E27FC236}">
                <a16:creationId xmlns:a16="http://schemas.microsoft.com/office/drawing/2014/main" id="{12E300FD-8236-F8E0-618D-503F46E53393}"/>
              </a:ext>
            </a:extLst>
          </p:cNvPr>
          <p:cNvPicPr>
            <a:picLocks noChangeAspect="1"/>
          </p:cNvPicPr>
          <p:nvPr/>
        </p:nvPicPr>
        <p:blipFill>
          <a:blip r:embed="rId2"/>
          <a:stretch>
            <a:fillRect/>
          </a:stretch>
        </p:blipFill>
        <p:spPr>
          <a:xfrm>
            <a:off x="1970631" y="461395"/>
            <a:ext cx="7799664" cy="6251323"/>
          </a:xfrm>
          <a:prstGeom prst="rect">
            <a:avLst/>
          </a:prstGeom>
        </p:spPr>
      </p:pic>
    </p:spTree>
    <p:extLst>
      <p:ext uri="{BB962C8B-B14F-4D97-AF65-F5344CB8AC3E}">
        <p14:creationId xmlns:p14="http://schemas.microsoft.com/office/powerpoint/2010/main" val="3347976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B189E-059F-4AA9-C665-58A567E46F8D}"/>
              </a:ext>
            </a:extLst>
          </p:cNvPr>
          <p:cNvSpPr txBox="1"/>
          <p:nvPr/>
        </p:nvSpPr>
        <p:spPr>
          <a:xfrm>
            <a:off x="3048699" y="0"/>
            <a:ext cx="6094602" cy="492443"/>
          </a:xfrm>
          <a:prstGeom prst="rect">
            <a:avLst/>
          </a:prstGeom>
          <a:noFill/>
        </p:spPr>
        <p:txBody>
          <a:bodyPr wrap="square">
            <a:spAutoFit/>
          </a:bodyPr>
          <a:lstStyle/>
          <a:p>
            <a:pPr algn="ctr"/>
            <a:r>
              <a:rPr lang="en-US" sz="2600" b="1" dirty="0"/>
              <a:t>Violation for Consumer Usage Distribution</a:t>
            </a:r>
          </a:p>
        </p:txBody>
      </p:sp>
      <p:pic>
        <p:nvPicPr>
          <p:cNvPr id="5" name="Picture 4">
            <a:extLst>
              <a:ext uri="{FF2B5EF4-FFF2-40B4-BE49-F238E27FC236}">
                <a16:creationId xmlns:a16="http://schemas.microsoft.com/office/drawing/2014/main" id="{0616AD0B-7CAC-8466-ACE4-CE786AE0140D}"/>
              </a:ext>
            </a:extLst>
          </p:cNvPr>
          <p:cNvPicPr>
            <a:picLocks noChangeAspect="1"/>
          </p:cNvPicPr>
          <p:nvPr/>
        </p:nvPicPr>
        <p:blipFill>
          <a:blip r:embed="rId2"/>
          <a:stretch>
            <a:fillRect/>
          </a:stretch>
        </p:blipFill>
        <p:spPr>
          <a:xfrm>
            <a:off x="2166351" y="492443"/>
            <a:ext cx="7859298" cy="6308993"/>
          </a:xfrm>
          <a:prstGeom prst="rect">
            <a:avLst/>
          </a:prstGeom>
        </p:spPr>
      </p:pic>
    </p:spTree>
    <p:extLst>
      <p:ext uri="{BB962C8B-B14F-4D97-AF65-F5344CB8AC3E}">
        <p14:creationId xmlns:p14="http://schemas.microsoft.com/office/powerpoint/2010/main" val="898297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E13303-B619-ED08-688F-6398B03C88EA}"/>
              </a:ext>
            </a:extLst>
          </p:cNvPr>
          <p:cNvPicPr>
            <a:picLocks noChangeAspect="1"/>
          </p:cNvPicPr>
          <p:nvPr/>
        </p:nvPicPr>
        <p:blipFill>
          <a:blip r:embed="rId2"/>
          <a:stretch>
            <a:fillRect/>
          </a:stretch>
        </p:blipFill>
        <p:spPr>
          <a:xfrm>
            <a:off x="2172749" y="704675"/>
            <a:ext cx="7560867" cy="6040650"/>
          </a:xfrm>
          <a:prstGeom prst="rect">
            <a:avLst/>
          </a:prstGeom>
        </p:spPr>
      </p:pic>
      <p:sp>
        <p:nvSpPr>
          <p:cNvPr id="5" name="TextBox 4">
            <a:extLst>
              <a:ext uri="{FF2B5EF4-FFF2-40B4-BE49-F238E27FC236}">
                <a16:creationId xmlns:a16="http://schemas.microsoft.com/office/drawing/2014/main" id="{FCE6A526-0428-00A1-C19C-D33E57FB5957}"/>
              </a:ext>
            </a:extLst>
          </p:cNvPr>
          <p:cNvSpPr txBox="1"/>
          <p:nvPr/>
        </p:nvSpPr>
        <p:spPr>
          <a:xfrm>
            <a:off x="2905881" y="218006"/>
            <a:ext cx="6094602" cy="492443"/>
          </a:xfrm>
          <a:prstGeom prst="rect">
            <a:avLst/>
          </a:prstGeom>
          <a:noFill/>
        </p:spPr>
        <p:txBody>
          <a:bodyPr wrap="square">
            <a:spAutoFit/>
          </a:bodyPr>
          <a:lstStyle/>
          <a:p>
            <a:pPr algn="ctr"/>
            <a:r>
              <a:rPr lang="en-US" sz="2600" b="1" dirty="0"/>
              <a:t>Violation for Hybrid Distribution</a:t>
            </a:r>
          </a:p>
        </p:txBody>
      </p:sp>
    </p:spTree>
    <p:extLst>
      <p:ext uri="{BB962C8B-B14F-4D97-AF65-F5344CB8AC3E}">
        <p14:creationId xmlns:p14="http://schemas.microsoft.com/office/powerpoint/2010/main" val="1059962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3AAFC4-48C1-B121-1418-87E3E05D8DF6}"/>
              </a:ext>
            </a:extLst>
          </p:cNvPr>
          <p:cNvSpPr txBox="1"/>
          <p:nvPr/>
        </p:nvSpPr>
        <p:spPr>
          <a:xfrm>
            <a:off x="427838" y="2875002"/>
            <a:ext cx="10844868" cy="553998"/>
          </a:xfrm>
          <a:prstGeom prst="rect">
            <a:avLst/>
          </a:prstGeom>
          <a:noFill/>
        </p:spPr>
        <p:txBody>
          <a:bodyPr wrap="square">
            <a:spAutoFit/>
          </a:bodyPr>
          <a:lstStyle/>
          <a:p>
            <a:pPr algn="ctr"/>
            <a:r>
              <a:rPr lang="en-US" sz="3000" b="1" dirty="0"/>
              <a:t>Conclusion &amp; Future Scope</a:t>
            </a:r>
          </a:p>
        </p:txBody>
      </p:sp>
    </p:spTree>
    <p:extLst>
      <p:ext uri="{BB962C8B-B14F-4D97-AF65-F5344CB8AC3E}">
        <p14:creationId xmlns:p14="http://schemas.microsoft.com/office/powerpoint/2010/main" val="1279186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E6847F-4796-E224-CFB2-E4836B59D0D5}"/>
              </a:ext>
            </a:extLst>
          </p:cNvPr>
          <p:cNvSpPr txBox="1"/>
          <p:nvPr/>
        </p:nvSpPr>
        <p:spPr>
          <a:xfrm>
            <a:off x="226504" y="100560"/>
            <a:ext cx="10914076" cy="892552"/>
          </a:xfrm>
          <a:prstGeom prst="rect">
            <a:avLst/>
          </a:prstGeom>
          <a:noFill/>
        </p:spPr>
        <p:txBody>
          <a:bodyPr wrap="square">
            <a:spAutoFit/>
          </a:bodyPr>
          <a:lstStyle/>
          <a:p>
            <a:pPr algn="ctr"/>
            <a:r>
              <a:rPr lang="en-US" sz="2600" b="1" dirty="0"/>
              <a:t>Percentage of Different Algorithms used by each Neighborhood in Hybrid Distribution</a:t>
            </a:r>
          </a:p>
        </p:txBody>
      </p:sp>
      <p:pic>
        <p:nvPicPr>
          <p:cNvPr id="5" name="Picture 4">
            <a:extLst>
              <a:ext uri="{FF2B5EF4-FFF2-40B4-BE49-F238E27FC236}">
                <a16:creationId xmlns:a16="http://schemas.microsoft.com/office/drawing/2014/main" id="{50AB0B37-FBBF-6C97-351B-AADEA839F24D}"/>
              </a:ext>
            </a:extLst>
          </p:cNvPr>
          <p:cNvPicPr>
            <a:picLocks noChangeAspect="1"/>
          </p:cNvPicPr>
          <p:nvPr/>
        </p:nvPicPr>
        <p:blipFill>
          <a:blip r:embed="rId2"/>
          <a:stretch>
            <a:fillRect/>
          </a:stretch>
        </p:blipFill>
        <p:spPr>
          <a:xfrm>
            <a:off x="0" y="1378634"/>
            <a:ext cx="5565012" cy="2119575"/>
          </a:xfrm>
          <a:prstGeom prst="rect">
            <a:avLst/>
          </a:prstGeom>
        </p:spPr>
      </p:pic>
      <p:pic>
        <p:nvPicPr>
          <p:cNvPr id="7" name="Picture 6">
            <a:extLst>
              <a:ext uri="{FF2B5EF4-FFF2-40B4-BE49-F238E27FC236}">
                <a16:creationId xmlns:a16="http://schemas.microsoft.com/office/drawing/2014/main" id="{E560E81D-0AFD-8319-D79F-A3B542807342}"/>
              </a:ext>
            </a:extLst>
          </p:cNvPr>
          <p:cNvPicPr>
            <a:picLocks noChangeAspect="1"/>
          </p:cNvPicPr>
          <p:nvPr/>
        </p:nvPicPr>
        <p:blipFill>
          <a:blip r:embed="rId3"/>
          <a:stretch>
            <a:fillRect/>
          </a:stretch>
        </p:blipFill>
        <p:spPr>
          <a:xfrm>
            <a:off x="5863905" y="1378634"/>
            <a:ext cx="5719020" cy="2119575"/>
          </a:xfrm>
          <a:prstGeom prst="rect">
            <a:avLst/>
          </a:prstGeom>
        </p:spPr>
      </p:pic>
      <p:sp>
        <p:nvSpPr>
          <p:cNvPr id="11" name="TextBox 10">
            <a:extLst>
              <a:ext uri="{FF2B5EF4-FFF2-40B4-BE49-F238E27FC236}">
                <a16:creationId xmlns:a16="http://schemas.microsoft.com/office/drawing/2014/main" id="{E8BD2791-21F0-C176-BD20-071EC495F2B8}"/>
              </a:ext>
            </a:extLst>
          </p:cNvPr>
          <p:cNvSpPr txBox="1"/>
          <p:nvPr/>
        </p:nvSpPr>
        <p:spPr>
          <a:xfrm>
            <a:off x="1887523" y="3498209"/>
            <a:ext cx="1174459" cy="369332"/>
          </a:xfrm>
          <a:prstGeom prst="rect">
            <a:avLst/>
          </a:prstGeom>
          <a:noFill/>
        </p:spPr>
        <p:txBody>
          <a:bodyPr wrap="square" rtlCol="0">
            <a:spAutoFit/>
          </a:bodyPr>
          <a:lstStyle/>
          <a:p>
            <a:endParaRPr lang="en-US" dirty="0"/>
          </a:p>
        </p:txBody>
      </p:sp>
      <p:sp>
        <p:nvSpPr>
          <p:cNvPr id="12" name="TextBox 11">
            <a:extLst>
              <a:ext uri="{FF2B5EF4-FFF2-40B4-BE49-F238E27FC236}">
                <a16:creationId xmlns:a16="http://schemas.microsoft.com/office/drawing/2014/main" id="{8A6849D0-96FE-1D7B-DC05-72CBD5F4019B}"/>
              </a:ext>
            </a:extLst>
          </p:cNvPr>
          <p:cNvSpPr txBox="1"/>
          <p:nvPr/>
        </p:nvSpPr>
        <p:spPr>
          <a:xfrm>
            <a:off x="2039923" y="3650609"/>
            <a:ext cx="1174459" cy="369332"/>
          </a:xfrm>
          <a:prstGeom prst="rect">
            <a:avLst/>
          </a:prstGeom>
          <a:noFill/>
        </p:spPr>
        <p:txBody>
          <a:bodyPr wrap="square" rtlCol="0">
            <a:spAutoFit/>
          </a:bodyPr>
          <a:lstStyle/>
          <a:p>
            <a:endParaRPr lang="en-US" dirty="0"/>
          </a:p>
        </p:txBody>
      </p:sp>
      <p:sp>
        <p:nvSpPr>
          <p:cNvPr id="13" name="TextBox 12">
            <a:extLst>
              <a:ext uri="{FF2B5EF4-FFF2-40B4-BE49-F238E27FC236}">
                <a16:creationId xmlns:a16="http://schemas.microsoft.com/office/drawing/2014/main" id="{0EEB7011-E56B-9B86-7FFB-2ED4AF3AF918}"/>
              </a:ext>
            </a:extLst>
          </p:cNvPr>
          <p:cNvSpPr txBox="1"/>
          <p:nvPr/>
        </p:nvSpPr>
        <p:spPr>
          <a:xfrm>
            <a:off x="1887523" y="3498209"/>
            <a:ext cx="1770077" cy="492443"/>
          </a:xfrm>
          <a:prstGeom prst="rect">
            <a:avLst/>
          </a:prstGeom>
          <a:noFill/>
        </p:spPr>
        <p:txBody>
          <a:bodyPr wrap="square" rtlCol="0">
            <a:spAutoFit/>
          </a:bodyPr>
          <a:lstStyle/>
          <a:p>
            <a:pPr algn="ctr"/>
            <a:r>
              <a:rPr lang="en-US" sz="2600" b="1" dirty="0"/>
              <a:t>Austin</a:t>
            </a:r>
          </a:p>
        </p:txBody>
      </p:sp>
      <p:sp>
        <p:nvSpPr>
          <p:cNvPr id="15" name="TextBox 14">
            <a:extLst>
              <a:ext uri="{FF2B5EF4-FFF2-40B4-BE49-F238E27FC236}">
                <a16:creationId xmlns:a16="http://schemas.microsoft.com/office/drawing/2014/main" id="{FF916989-FDAA-3B8E-1335-37816A8B21E3}"/>
              </a:ext>
            </a:extLst>
          </p:cNvPr>
          <p:cNvSpPr txBox="1"/>
          <p:nvPr/>
        </p:nvSpPr>
        <p:spPr>
          <a:xfrm>
            <a:off x="8340754" y="3498209"/>
            <a:ext cx="2139894" cy="492443"/>
          </a:xfrm>
          <a:prstGeom prst="rect">
            <a:avLst/>
          </a:prstGeom>
          <a:noFill/>
        </p:spPr>
        <p:txBody>
          <a:bodyPr wrap="square">
            <a:spAutoFit/>
          </a:bodyPr>
          <a:lstStyle/>
          <a:p>
            <a:pPr algn="ctr"/>
            <a:r>
              <a:rPr lang="en-US" sz="2600" b="1" dirty="0"/>
              <a:t>California</a:t>
            </a:r>
          </a:p>
        </p:txBody>
      </p:sp>
      <p:pic>
        <p:nvPicPr>
          <p:cNvPr id="17" name="Picture 16">
            <a:extLst>
              <a:ext uri="{FF2B5EF4-FFF2-40B4-BE49-F238E27FC236}">
                <a16:creationId xmlns:a16="http://schemas.microsoft.com/office/drawing/2014/main" id="{1A18B099-4820-88A2-E194-7E78782674F6}"/>
              </a:ext>
            </a:extLst>
          </p:cNvPr>
          <p:cNvPicPr>
            <a:picLocks noChangeAspect="1"/>
          </p:cNvPicPr>
          <p:nvPr/>
        </p:nvPicPr>
        <p:blipFill>
          <a:blip r:embed="rId4"/>
          <a:stretch>
            <a:fillRect/>
          </a:stretch>
        </p:blipFill>
        <p:spPr>
          <a:xfrm>
            <a:off x="3225882" y="3883731"/>
            <a:ext cx="5895975" cy="2209800"/>
          </a:xfrm>
          <a:prstGeom prst="rect">
            <a:avLst/>
          </a:prstGeom>
        </p:spPr>
      </p:pic>
      <p:sp>
        <p:nvSpPr>
          <p:cNvPr id="19" name="TextBox 18">
            <a:extLst>
              <a:ext uri="{FF2B5EF4-FFF2-40B4-BE49-F238E27FC236}">
                <a16:creationId xmlns:a16="http://schemas.microsoft.com/office/drawing/2014/main" id="{3CC51D5F-89D8-3C7B-B198-13CF4EA23267}"/>
              </a:ext>
            </a:extLst>
          </p:cNvPr>
          <p:cNvSpPr txBox="1"/>
          <p:nvPr/>
        </p:nvSpPr>
        <p:spPr>
          <a:xfrm>
            <a:off x="3027255" y="6204162"/>
            <a:ext cx="6094602" cy="492443"/>
          </a:xfrm>
          <a:prstGeom prst="rect">
            <a:avLst/>
          </a:prstGeom>
          <a:noFill/>
        </p:spPr>
        <p:txBody>
          <a:bodyPr wrap="square">
            <a:spAutoFit/>
          </a:bodyPr>
          <a:lstStyle/>
          <a:p>
            <a:pPr algn="ctr"/>
            <a:r>
              <a:rPr lang="en-US" sz="2600" b="1" dirty="0"/>
              <a:t>New York</a:t>
            </a:r>
          </a:p>
        </p:txBody>
      </p:sp>
    </p:spTree>
    <p:extLst>
      <p:ext uri="{BB962C8B-B14F-4D97-AF65-F5344CB8AC3E}">
        <p14:creationId xmlns:p14="http://schemas.microsoft.com/office/powerpoint/2010/main" val="5927056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45E214-CCB7-EF6E-3A4D-C962E6BAD756}"/>
              </a:ext>
            </a:extLst>
          </p:cNvPr>
          <p:cNvSpPr txBox="1"/>
          <p:nvPr/>
        </p:nvSpPr>
        <p:spPr>
          <a:xfrm>
            <a:off x="148205" y="522660"/>
            <a:ext cx="11895589" cy="892552"/>
          </a:xfrm>
          <a:prstGeom prst="rect">
            <a:avLst/>
          </a:prstGeom>
          <a:noFill/>
        </p:spPr>
        <p:txBody>
          <a:bodyPr wrap="square" rtlCol="0">
            <a:spAutoFit/>
          </a:bodyPr>
          <a:lstStyle/>
          <a:p>
            <a:pPr algn="just"/>
            <a:r>
              <a:rPr lang="en-US" sz="2600" b="1" dirty="0"/>
              <a:t>The following table describes the Violation % shown by each Algorithm by each Neighborhood.</a:t>
            </a:r>
          </a:p>
        </p:txBody>
      </p:sp>
      <p:pic>
        <p:nvPicPr>
          <p:cNvPr id="5" name="Picture 4">
            <a:extLst>
              <a:ext uri="{FF2B5EF4-FFF2-40B4-BE49-F238E27FC236}">
                <a16:creationId xmlns:a16="http://schemas.microsoft.com/office/drawing/2014/main" id="{ECD34A43-A34D-738A-F453-2DF770419CF5}"/>
              </a:ext>
            </a:extLst>
          </p:cNvPr>
          <p:cNvPicPr>
            <a:picLocks noChangeAspect="1"/>
          </p:cNvPicPr>
          <p:nvPr/>
        </p:nvPicPr>
        <p:blipFill>
          <a:blip r:embed="rId2"/>
          <a:stretch>
            <a:fillRect/>
          </a:stretch>
        </p:blipFill>
        <p:spPr>
          <a:xfrm>
            <a:off x="2508308" y="1325462"/>
            <a:ext cx="7403488" cy="5301104"/>
          </a:xfrm>
          <a:prstGeom prst="rect">
            <a:avLst/>
          </a:prstGeom>
        </p:spPr>
      </p:pic>
    </p:spTree>
    <p:extLst>
      <p:ext uri="{BB962C8B-B14F-4D97-AF65-F5344CB8AC3E}">
        <p14:creationId xmlns:p14="http://schemas.microsoft.com/office/powerpoint/2010/main" val="4780022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6E1C25-A60D-9DE2-B339-6DE7AFAA5705}"/>
              </a:ext>
            </a:extLst>
          </p:cNvPr>
          <p:cNvSpPr txBox="1"/>
          <p:nvPr/>
        </p:nvSpPr>
        <p:spPr>
          <a:xfrm>
            <a:off x="570452" y="159391"/>
            <a:ext cx="11081856" cy="492443"/>
          </a:xfrm>
          <a:prstGeom prst="rect">
            <a:avLst/>
          </a:prstGeom>
          <a:noFill/>
        </p:spPr>
        <p:txBody>
          <a:bodyPr wrap="square" rtlCol="0">
            <a:spAutoFit/>
          </a:bodyPr>
          <a:lstStyle/>
          <a:p>
            <a:pPr algn="ctr"/>
            <a:r>
              <a:rPr lang="en-US" sz="2600" b="1" dirty="0"/>
              <a:t>The overall violation is shown below</a:t>
            </a:r>
          </a:p>
        </p:txBody>
      </p:sp>
      <p:pic>
        <p:nvPicPr>
          <p:cNvPr id="4" name="Picture 3">
            <a:extLst>
              <a:ext uri="{FF2B5EF4-FFF2-40B4-BE49-F238E27FC236}">
                <a16:creationId xmlns:a16="http://schemas.microsoft.com/office/drawing/2014/main" id="{D2A156F3-EA97-FE07-FCF8-B7857565FF53}"/>
              </a:ext>
            </a:extLst>
          </p:cNvPr>
          <p:cNvPicPr>
            <a:picLocks noChangeAspect="1"/>
          </p:cNvPicPr>
          <p:nvPr/>
        </p:nvPicPr>
        <p:blipFill>
          <a:blip r:embed="rId2"/>
          <a:stretch>
            <a:fillRect/>
          </a:stretch>
        </p:blipFill>
        <p:spPr>
          <a:xfrm>
            <a:off x="1663205" y="1212821"/>
            <a:ext cx="8896350" cy="2838450"/>
          </a:xfrm>
          <a:prstGeom prst="rect">
            <a:avLst/>
          </a:prstGeom>
        </p:spPr>
      </p:pic>
    </p:spTree>
    <p:extLst>
      <p:ext uri="{BB962C8B-B14F-4D97-AF65-F5344CB8AC3E}">
        <p14:creationId xmlns:p14="http://schemas.microsoft.com/office/powerpoint/2010/main" val="33625874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98C3F6-8C4C-AA66-3353-EBBF8B47D3C6}"/>
              </a:ext>
            </a:extLst>
          </p:cNvPr>
          <p:cNvSpPr txBox="1"/>
          <p:nvPr/>
        </p:nvSpPr>
        <p:spPr>
          <a:xfrm>
            <a:off x="4686649" y="83890"/>
            <a:ext cx="2818701" cy="553998"/>
          </a:xfrm>
          <a:prstGeom prst="rect">
            <a:avLst/>
          </a:prstGeom>
          <a:noFill/>
        </p:spPr>
        <p:txBody>
          <a:bodyPr wrap="square" rtlCol="0">
            <a:spAutoFit/>
          </a:bodyPr>
          <a:lstStyle/>
          <a:p>
            <a:pPr algn="ctr"/>
            <a:r>
              <a:rPr lang="en-US" sz="3000" b="1" dirty="0"/>
              <a:t>Future Scope</a:t>
            </a:r>
          </a:p>
        </p:txBody>
      </p:sp>
      <p:sp>
        <p:nvSpPr>
          <p:cNvPr id="5" name="TextBox 4">
            <a:extLst>
              <a:ext uri="{FF2B5EF4-FFF2-40B4-BE49-F238E27FC236}">
                <a16:creationId xmlns:a16="http://schemas.microsoft.com/office/drawing/2014/main" id="{77EC7355-F56F-ED2C-949E-A04E6B68C18E}"/>
              </a:ext>
            </a:extLst>
          </p:cNvPr>
          <p:cNvSpPr txBox="1"/>
          <p:nvPr/>
        </p:nvSpPr>
        <p:spPr>
          <a:xfrm>
            <a:off x="159390" y="637889"/>
            <a:ext cx="11888597" cy="6494085"/>
          </a:xfrm>
          <a:prstGeom prst="rect">
            <a:avLst/>
          </a:prstGeom>
          <a:noFill/>
        </p:spPr>
        <p:txBody>
          <a:bodyPr wrap="square">
            <a:spAutoFit/>
          </a:bodyPr>
          <a:lstStyle/>
          <a:p>
            <a:pPr marL="285750" indent="-285750" algn="just">
              <a:buFont typeface="Arial" panose="020B0604020202020204" pitchFamily="34" charset="0"/>
              <a:buChar char="•"/>
            </a:pPr>
            <a:r>
              <a:rPr lang="en-US" sz="2600" b="0" i="0" dirty="0">
                <a:effectLst/>
              </a:rPr>
              <a:t>Advancement of smart grid technologies, such as smart meters, sensors, and automation, can enable real-time monitoring and precise implementation of brownouts.</a:t>
            </a:r>
          </a:p>
          <a:p>
            <a:pPr marL="285750" indent="-285750" algn="just">
              <a:buFont typeface="Arial" panose="020B0604020202020204" pitchFamily="34" charset="0"/>
              <a:buChar char="•"/>
            </a:pPr>
            <a:endParaRPr lang="en-US" sz="2600" dirty="0"/>
          </a:p>
          <a:p>
            <a:pPr marL="285750" indent="-285750" algn="just" rtl="0">
              <a:buFont typeface="Arial" panose="020B0604020202020204" pitchFamily="34" charset="0"/>
              <a:buChar char="•"/>
            </a:pPr>
            <a:r>
              <a:rPr lang="en-US" sz="2600" dirty="0"/>
              <a:t>Nuclear energy is one of the most cleanest energy we can invest in that as a renewable energy.</a:t>
            </a:r>
          </a:p>
          <a:p>
            <a:pPr marL="285750" indent="-285750" algn="just" rtl="0">
              <a:buFont typeface="Arial" panose="020B0604020202020204" pitchFamily="34" charset="0"/>
              <a:buChar char="•"/>
            </a:pPr>
            <a:endParaRPr lang="en-US" sz="2600" dirty="0"/>
          </a:p>
          <a:p>
            <a:pPr marL="285750" indent="-285750" algn="just" rtl="0">
              <a:buFont typeface="Arial" panose="020B0604020202020204" pitchFamily="34" charset="0"/>
              <a:buChar char="•"/>
            </a:pPr>
            <a:r>
              <a:rPr lang="en-US" sz="2600" dirty="0"/>
              <a:t>Biogas and Geo-thermal energy are also one of the most renewable energy.</a:t>
            </a:r>
          </a:p>
          <a:p>
            <a:pPr algn="just" rtl="0"/>
            <a:r>
              <a:rPr lang="en-US" sz="2600" dirty="0"/>
              <a:t> </a:t>
            </a:r>
          </a:p>
          <a:p>
            <a:pPr marL="285750" indent="-285750" algn="just" rtl="0">
              <a:buFont typeface="Arial" panose="020B0604020202020204" pitchFamily="34" charset="0"/>
              <a:buChar char="•"/>
            </a:pPr>
            <a:r>
              <a:rPr lang="en-US" sz="2600" dirty="0">
                <a:effectLst/>
              </a:rPr>
              <a:t>The future scope of brownout management will depend on technological advancements, policies, and regional grid characteristics, but these areas provide a</a:t>
            </a:r>
            <a:r>
              <a:rPr lang="en-US" sz="2600" dirty="0"/>
              <a:t> </a:t>
            </a:r>
            <a:r>
              <a:rPr lang="en-US" sz="2600" dirty="0">
                <a:effectLst/>
              </a:rPr>
              <a:t>foundation for further development.</a:t>
            </a:r>
          </a:p>
          <a:p>
            <a:pPr marL="285750" indent="-285750" algn="just" rtl="0">
              <a:buFont typeface="Arial" panose="020B0604020202020204" pitchFamily="34" charset="0"/>
              <a:buChar char="•"/>
            </a:pPr>
            <a:endParaRPr lang="en-US" sz="2600" dirty="0"/>
          </a:p>
          <a:p>
            <a:pPr marL="285750" indent="-285750" rtl="0">
              <a:buFont typeface="Arial" panose="020B0604020202020204" pitchFamily="34" charset="0"/>
              <a:buChar char="•"/>
            </a:pPr>
            <a:r>
              <a:rPr lang="en-US" sz="2600" dirty="0"/>
              <a:t>Incorporating renewable resources of energy like </a:t>
            </a:r>
            <a:r>
              <a:rPr lang="en-US" sz="2600" b="0" i="0" dirty="0">
                <a:effectLst/>
              </a:rPr>
              <a:t>incorporating solar panels or wind turbines can help reduce peak load.</a:t>
            </a:r>
            <a:br>
              <a:rPr lang="en-US" sz="2600" b="0" i="0" dirty="0">
                <a:solidFill>
                  <a:srgbClr val="5D6879"/>
                </a:solidFill>
                <a:effectLst/>
              </a:rPr>
            </a:br>
            <a:endParaRPr lang="en-US" sz="2600" dirty="0"/>
          </a:p>
        </p:txBody>
      </p:sp>
    </p:spTree>
    <p:extLst>
      <p:ext uri="{BB962C8B-B14F-4D97-AF65-F5344CB8AC3E}">
        <p14:creationId xmlns:p14="http://schemas.microsoft.com/office/powerpoint/2010/main" val="284047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741850-6F52-193C-F32A-1D9C62202646}"/>
              </a:ext>
            </a:extLst>
          </p:cNvPr>
          <p:cNvSpPr txBox="1"/>
          <p:nvPr/>
        </p:nvSpPr>
        <p:spPr>
          <a:xfrm>
            <a:off x="465588" y="67112"/>
            <a:ext cx="11216079" cy="553998"/>
          </a:xfrm>
          <a:prstGeom prst="rect">
            <a:avLst/>
          </a:prstGeom>
          <a:noFill/>
        </p:spPr>
        <p:txBody>
          <a:bodyPr wrap="square" rtlCol="0">
            <a:spAutoFit/>
          </a:bodyPr>
          <a:lstStyle/>
          <a:p>
            <a:pPr algn="ctr"/>
            <a:r>
              <a:rPr lang="en-US" sz="3000" b="1" dirty="0"/>
              <a:t>References</a:t>
            </a:r>
          </a:p>
        </p:txBody>
      </p:sp>
      <p:sp>
        <p:nvSpPr>
          <p:cNvPr id="7" name="TextBox 6">
            <a:extLst>
              <a:ext uri="{FF2B5EF4-FFF2-40B4-BE49-F238E27FC236}">
                <a16:creationId xmlns:a16="http://schemas.microsoft.com/office/drawing/2014/main" id="{66DBECBC-AAC3-819F-5A43-7EE6F3777D5C}"/>
              </a:ext>
            </a:extLst>
          </p:cNvPr>
          <p:cNvSpPr txBox="1"/>
          <p:nvPr/>
        </p:nvSpPr>
        <p:spPr>
          <a:xfrm>
            <a:off x="109056" y="730168"/>
            <a:ext cx="11929145" cy="6186309"/>
          </a:xfrm>
          <a:prstGeom prst="rect">
            <a:avLst/>
          </a:prstGeom>
          <a:noFill/>
        </p:spPr>
        <p:txBody>
          <a:bodyPr wrap="square">
            <a:spAutoFit/>
          </a:bodyPr>
          <a:lstStyle/>
          <a:p>
            <a:r>
              <a:rPr lang="en-US" b="0" i="0" dirty="0">
                <a:effectLst/>
              </a:rPr>
              <a:t>[1] International Energy Agency, “Global Energy Review 2021 - Electricity,” https://www.</a:t>
            </a:r>
            <a:br>
              <a:rPr lang="en-US" dirty="0"/>
            </a:br>
            <a:r>
              <a:rPr lang="en-US" b="0" i="0" dirty="0">
                <a:effectLst/>
              </a:rPr>
              <a:t>iea.org/reports/global-energy-review-2021/electricity, 2021.</a:t>
            </a:r>
          </a:p>
          <a:p>
            <a:br>
              <a:rPr lang="en-US" dirty="0"/>
            </a:br>
            <a:r>
              <a:rPr lang="en-US" b="0" i="0" dirty="0">
                <a:effectLst/>
              </a:rPr>
              <a:t>[2] International Energy agency, “Global EV Outlook 2021,” https://www.iea.org/reports/</a:t>
            </a:r>
            <a:br>
              <a:rPr lang="en-US" dirty="0"/>
            </a:br>
            <a:r>
              <a:rPr lang="en-US" b="0" i="0" dirty="0">
                <a:effectLst/>
              </a:rPr>
              <a:t>global-ev-outlook-2021, 2021.</a:t>
            </a:r>
          </a:p>
          <a:p>
            <a:br>
              <a:rPr lang="en-US" dirty="0"/>
            </a:br>
            <a:r>
              <a:rPr lang="en-US" b="0" i="0" dirty="0">
                <a:effectLst/>
              </a:rPr>
              <a:t>[3] Ministry of Power, Government of India, “Power Sector at a Glance - All India,” https:</a:t>
            </a:r>
            <a:br>
              <a:rPr lang="en-US" dirty="0"/>
            </a:br>
            <a:r>
              <a:rPr lang="en-US" b="0" i="0" dirty="0">
                <a:effectLst/>
              </a:rPr>
              <a:t>//powermin.gov.in/</a:t>
            </a:r>
            <a:r>
              <a:rPr lang="en-US" b="0" i="0" dirty="0" err="1">
                <a:effectLst/>
              </a:rPr>
              <a:t>en</a:t>
            </a:r>
            <a:r>
              <a:rPr lang="en-US" b="0" i="0" dirty="0">
                <a:effectLst/>
              </a:rPr>
              <a:t>/content/power-sector-glance-all-</a:t>
            </a:r>
            <a:r>
              <a:rPr lang="en-US" b="0" i="0" dirty="0" err="1">
                <a:effectLst/>
              </a:rPr>
              <a:t>india</a:t>
            </a:r>
            <a:r>
              <a:rPr lang="en-US" b="0" i="0" dirty="0">
                <a:effectLst/>
              </a:rPr>
              <a:t>, 2023.</a:t>
            </a:r>
          </a:p>
          <a:p>
            <a:br>
              <a:rPr lang="en-US" dirty="0"/>
            </a:br>
            <a:r>
              <a:rPr lang="en-US" b="0" i="0" dirty="0">
                <a:effectLst/>
              </a:rPr>
              <a:t>[4] K. Gaur, H. Kumar, R. P. K. Agarwal, K. V. S. Baba, and S. K. </a:t>
            </a:r>
            <a:r>
              <a:rPr lang="en-US" b="0" i="0" dirty="0" err="1">
                <a:effectLst/>
              </a:rPr>
              <a:t>Soonee</a:t>
            </a:r>
            <a:r>
              <a:rPr lang="en-US" b="0" i="0" dirty="0">
                <a:effectLst/>
              </a:rPr>
              <a:t>, “</a:t>
            </a:r>
            <a:r>
              <a:rPr lang="en-US" b="0" i="0" dirty="0" err="1">
                <a:effectLst/>
              </a:rPr>
              <a:t>Analysing</a:t>
            </a:r>
            <a:br>
              <a:rPr lang="en-US" dirty="0"/>
            </a:br>
            <a:r>
              <a:rPr lang="en-US" b="0" i="0" dirty="0">
                <a:effectLst/>
              </a:rPr>
              <a:t>the electricity demand pattern,” in 2016 National Power Systems Conference (NPSC),</a:t>
            </a:r>
            <a:br>
              <a:rPr lang="en-US" dirty="0"/>
            </a:br>
            <a:r>
              <a:rPr lang="en-US" b="0" i="0" dirty="0">
                <a:effectLst/>
              </a:rPr>
              <a:t>2016, pp. 1–6.</a:t>
            </a:r>
          </a:p>
          <a:p>
            <a:endParaRPr lang="en-US" dirty="0"/>
          </a:p>
          <a:p>
            <a:r>
              <a:rPr lang="en-US" b="0" i="0" dirty="0">
                <a:effectLst/>
              </a:rPr>
              <a:t>[5] Y. Guo, Y. Gong, Y. Fang, P. P. Khargonekar, and X. </a:t>
            </a:r>
            <a:r>
              <a:rPr lang="en-US" b="0" i="0" dirty="0" err="1">
                <a:effectLst/>
              </a:rPr>
              <a:t>Geng</a:t>
            </a:r>
            <a:r>
              <a:rPr lang="en-US" b="0" i="0" dirty="0">
                <a:effectLst/>
              </a:rPr>
              <a:t>, “Energy and network</a:t>
            </a:r>
            <a:br>
              <a:rPr lang="en-US" dirty="0"/>
            </a:br>
            <a:r>
              <a:rPr lang="en-US" b="0" i="0" dirty="0">
                <a:effectLst/>
              </a:rPr>
              <a:t>aware workload management for sustainable data centers with thermal storage,” IEEE</a:t>
            </a:r>
            <a:br>
              <a:rPr lang="en-US" dirty="0"/>
            </a:br>
            <a:r>
              <a:rPr lang="en-US" b="0" i="0" dirty="0">
                <a:effectLst/>
              </a:rPr>
              <a:t>Transactions on Parallel and Distributed Systems, vol. 25, no. 8, pp. 2030–2042, 2014.</a:t>
            </a:r>
          </a:p>
          <a:p>
            <a:br>
              <a:rPr lang="en-US" dirty="0"/>
            </a:br>
            <a:r>
              <a:rPr lang="en-US" b="0" i="0" dirty="0">
                <a:effectLst/>
              </a:rPr>
              <a:t>[6] H. </a:t>
            </a:r>
            <a:r>
              <a:rPr lang="en-US" b="0" i="0" dirty="0" err="1">
                <a:effectLst/>
              </a:rPr>
              <a:t>Sadeghian</a:t>
            </a:r>
            <a:r>
              <a:rPr lang="en-US" b="0" i="0" dirty="0">
                <a:effectLst/>
              </a:rPr>
              <a:t> and Z. Wang, “Decentralized demand side management with rooftop </a:t>
            </a:r>
            <a:r>
              <a:rPr lang="en-US" b="0" i="0" dirty="0" err="1">
                <a:effectLst/>
              </a:rPr>
              <a:t>pv</a:t>
            </a:r>
            <a:br>
              <a:rPr lang="en-US" dirty="0"/>
            </a:br>
            <a:r>
              <a:rPr lang="en-US" b="0" i="0" dirty="0">
                <a:effectLst/>
              </a:rPr>
              <a:t>in residential distribution network,” in 2018 IEEE Power &amp; Energy Society Innovative</a:t>
            </a:r>
            <a:br>
              <a:rPr lang="en-US" dirty="0"/>
            </a:br>
            <a:r>
              <a:rPr lang="en-US" b="0" i="0" dirty="0">
                <a:effectLst/>
              </a:rPr>
              <a:t>Smart Grid Technologies Conference (ISGT), 2018, pp. 1–5.</a:t>
            </a:r>
          </a:p>
          <a:p>
            <a:br>
              <a:rPr lang="en-US" dirty="0"/>
            </a:br>
            <a:endParaRPr lang="en-US" dirty="0"/>
          </a:p>
        </p:txBody>
      </p:sp>
    </p:spTree>
    <p:extLst>
      <p:ext uri="{BB962C8B-B14F-4D97-AF65-F5344CB8AC3E}">
        <p14:creationId xmlns:p14="http://schemas.microsoft.com/office/powerpoint/2010/main" val="1988032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52376E-E6DB-3C8D-CD89-0F94633C824D}"/>
              </a:ext>
            </a:extLst>
          </p:cNvPr>
          <p:cNvSpPr txBox="1"/>
          <p:nvPr/>
        </p:nvSpPr>
        <p:spPr>
          <a:xfrm>
            <a:off x="58722" y="75500"/>
            <a:ext cx="12013035" cy="6463308"/>
          </a:xfrm>
          <a:prstGeom prst="rect">
            <a:avLst/>
          </a:prstGeom>
          <a:noFill/>
        </p:spPr>
        <p:txBody>
          <a:bodyPr wrap="square">
            <a:spAutoFit/>
          </a:bodyPr>
          <a:lstStyle/>
          <a:p>
            <a:r>
              <a:rPr lang="en-US" b="0" i="0" dirty="0">
                <a:effectLst/>
              </a:rPr>
              <a:t>[7] W. Saad, Z. Han, H. V. Poor, and T. Ba ̧</a:t>
            </a:r>
            <a:r>
              <a:rPr lang="en-US" b="0" i="0" dirty="0" err="1">
                <a:effectLst/>
              </a:rPr>
              <a:t>sar</a:t>
            </a:r>
            <a:r>
              <a:rPr lang="en-US" b="0" i="0" dirty="0">
                <a:effectLst/>
              </a:rPr>
              <a:t>, “Game theoretic methods for the smart</a:t>
            </a:r>
            <a:br>
              <a:rPr lang="en-US" dirty="0"/>
            </a:br>
            <a:r>
              <a:rPr lang="en-US" b="0" i="0" dirty="0">
                <a:effectLst/>
              </a:rPr>
              <a:t>grid,” </a:t>
            </a:r>
            <a:r>
              <a:rPr lang="en-US" b="0" i="0" dirty="0" err="1">
                <a:effectLst/>
              </a:rPr>
              <a:t>ArXiv</a:t>
            </a:r>
            <a:r>
              <a:rPr lang="en-US" b="0" i="0" dirty="0">
                <a:effectLst/>
              </a:rPr>
              <a:t>, vol. abs/1202.0452, 2012.</a:t>
            </a:r>
          </a:p>
          <a:p>
            <a:br>
              <a:rPr lang="en-US" dirty="0"/>
            </a:br>
            <a:r>
              <a:rPr lang="en-US" b="0" i="0" dirty="0">
                <a:effectLst/>
              </a:rPr>
              <a:t>[8] S. Biswas, “Development of microcontroller based smart grid framework,” vol. 4, pp.</a:t>
            </a:r>
            <a:br>
              <a:rPr lang="en-US" dirty="0"/>
            </a:br>
            <a:r>
              <a:rPr lang="en-US" b="0" i="0" dirty="0">
                <a:effectLst/>
              </a:rPr>
              <a:t>315–324, 08 2021.</a:t>
            </a:r>
          </a:p>
          <a:p>
            <a:br>
              <a:rPr lang="en-US" dirty="0"/>
            </a:br>
            <a:r>
              <a:rPr lang="en-US" b="0" i="0" dirty="0">
                <a:effectLst/>
              </a:rPr>
              <a:t>[9] M. Xu and R. </a:t>
            </a:r>
            <a:r>
              <a:rPr lang="en-US" b="0" i="0" dirty="0" err="1">
                <a:effectLst/>
              </a:rPr>
              <a:t>Buyya</a:t>
            </a:r>
            <a:r>
              <a:rPr lang="en-US" b="0" i="0" dirty="0">
                <a:effectLst/>
              </a:rPr>
              <a:t>, “Energy efficient scheduling of application components via</a:t>
            </a:r>
            <a:br>
              <a:rPr lang="en-US" dirty="0"/>
            </a:br>
            <a:r>
              <a:rPr lang="en-US" b="0" i="0" dirty="0">
                <a:effectLst/>
              </a:rPr>
              <a:t>brownout and approximate </a:t>
            </a:r>
            <a:r>
              <a:rPr lang="en-US" b="0" i="0" dirty="0" err="1">
                <a:effectLst/>
              </a:rPr>
              <a:t>markov</a:t>
            </a:r>
            <a:r>
              <a:rPr lang="en-US" b="0" i="0" dirty="0">
                <a:effectLst/>
              </a:rPr>
              <a:t> decision process,” in Service-Oriented Computing,</a:t>
            </a:r>
            <a:br>
              <a:rPr lang="en-US" dirty="0"/>
            </a:br>
            <a:r>
              <a:rPr lang="en-US" b="0" i="0" dirty="0">
                <a:effectLst/>
              </a:rPr>
              <a:t>M. Maximilien, A. </a:t>
            </a:r>
            <a:r>
              <a:rPr lang="en-US" b="0" i="0" dirty="0" err="1">
                <a:effectLst/>
              </a:rPr>
              <a:t>Vallecillo</a:t>
            </a:r>
            <a:r>
              <a:rPr lang="en-US" b="0" i="0" dirty="0">
                <a:effectLst/>
              </a:rPr>
              <a:t>, J. Wang, and M. Oriol, Eds. Cham: Springer Interna-</a:t>
            </a:r>
            <a:br>
              <a:rPr lang="en-US" dirty="0"/>
            </a:br>
            <a:r>
              <a:rPr lang="en-US" b="0" i="0" dirty="0" err="1">
                <a:effectLst/>
              </a:rPr>
              <a:t>tional</a:t>
            </a:r>
            <a:r>
              <a:rPr lang="en-US" b="0" i="0" dirty="0">
                <a:effectLst/>
              </a:rPr>
              <a:t> Publishing, 2017, pp. 206–220.</a:t>
            </a:r>
          </a:p>
          <a:p>
            <a:br>
              <a:rPr lang="en-US" dirty="0"/>
            </a:br>
            <a:r>
              <a:rPr lang="en-US" b="0" i="0" dirty="0">
                <a:effectLst/>
              </a:rPr>
              <a:t>[10] D. Tran and A. </a:t>
            </a:r>
            <a:r>
              <a:rPr lang="en-US" b="0" i="0" dirty="0" err="1">
                <a:effectLst/>
              </a:rPr>
              <a:t>Khambadkone</a:t>
            </a:r>
            <a:r>
              <a:rPr lang="en-US" b="0" i="0" dirty="0">
                <a:effectLst/>
              </a:rPr>
              <a:t>, “Energy management for lifetime extension of energy</a:t>
            </a:r>
            <a:br>
              <a:rPr lang="en-US" dirty="0"/>
            </a:br>
            <a:r>
              <a:rPr lang="en-US" b="0" i="0" dirty="0">
                <a:effectLst/>
              </a:rPr>
              <a:t>storage system in micro-grid applications,” Smart Grid, IEEE Transactions on, vol. 4,</a:t>
            </a:r>
            <a:br>
              <a:rPr lang="en-US" dirty="0"/>
            </a:br>
            <a:r>
              <a:rPr lang="en-US" b="0" i="0" dirty="0">
                <a:effectLst/>
              </a:rPr>
              <a:t>pp. 1289–1296, 09 2013.</a:t>
            </a:r>
          </a:p>
          <a:p>
            <a:br>
              <a:rPr lang="en-US" dirty="0"/>
            </a:br>
            <a:r>
              <a:rPr lang="en-US" b="0" i="0" dirty="0">
                <a:effectLst/>
              </a:rPr>
              <a:t>[11] J. Pan, B. Xu, X. Hou, L. Kou, and X. Qu, “Energy storage system planning based on</a:t>
            </a:r>
            <a:br>
              <a:rPr lang="en-US" dirty="0"/>
            </a:br>
            <a:r>
              <a:rPr lang="en-US" b="0" i="0" dirty="0">
                <a:effectLst/>
              </a:rPr>
              <a:t>cost analysis in distribution network,” in 2018 2nd IEEE Conference on Energy Internet</a:t>
            </a:r>
            <a:br>
              <a:rPr lang="en-US" dirty="0"/>
            </a:br>
            <a:r>
              <a:rPr lang="en-US" b="0" i="0" dirty="0">
                <a:effectLst/>
              </a:rPr>
              <a:t>and Energy System Integration (EI2), 2018, pp. 1–5.</a:t>
            </a:r>
          </a:p>
          <a:p>
            <a:br>
              <a:rPr lang="en-US" dirty="0"/>
            </a:br>
            <a:r>
              <a:rPr lang="en-US" b="0" i="0" dirty="0">
                <a:effectLst/>
              </a:rPr>
              <a:t>[12] V. </a:t>
            </a:r>
            <a:r>
              <a:rPr lang="en-US" b="0" i="0" dirty="0" err="1">
                <a:effectLst/>
              </a:rPr>
              <a:t>Calderaro</a:t>
            </a:r>
            <a:r>
              <a:rPr lang="en-US" b="0" i="0" dirty="0">
                <a:effectLst/>
              </a:rPr>
              <a:t>, V. Coppola, V. </a:t>
            </a:r>
            <a:r>
              <a:rPr lang="en-US" b="0" i="0" dirty="0" err="1">
                <a:effectLst/>
              </a:rPr>
              <a:t>Galdi</a:t>
            </a:r>
            <a:r>
              <a:rPr lang="en-US" b="0" i="0" dirty="0">
                <a:effectLst/>
              </a:rPr>
              <a:t>, and P. </a:t>
            </a:r>
            <a:r>
              <a:rPr lang="en-US" b="0" i="0" dirty="0" err="1">
                <a:effectLst/>
              </a:rPr>
              <a:t>Siano</a:t>
            </a:r>
            <a:r>
              <a:rPr lang="en-US" b="0" i="0" dirty="0">
                <a:effectLst/>
              </a:rPr>
              <a:t>, “Assessing control and management</a:t>
            </a:r>
            <a:br>
              <a:rPr lang="en-US" dirty="0"/>
            </a:br>
            <a:r>
              <a:rPr lang="en-US" b="0" i="0" dirty="0">
                <a:effectLst/>
              </a:rPr>
              <a:t>issues for micro wind generation integration into microgrids,” 06 2008, pp. 750–755.</a:t>
            </a:r>
          </a:p>
          <a:p>
            <a:endParaRPr lang="en-US" dirty="0"/>
          </a:p>
          <a:p>
            <a:endParaRPr lang="en-US" dirty="0"/>
          </a:p>
        </p:txBody>
      </p:sp>
    </p:spTree>
    <p:extLst>
      <p:ext uri="{BB962C8B-B14F-4D97-AF65-F5344CB8AC3E}">
        <p14:creationId xmlns:p14="http://schemas.microsoft.com/office/powerpoint/2010/main" val="4187457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79832B-9759-84F3-5AAC-82B9E31D532A}"/>
              </a:ext>
            </a:extLst>
          </p:cNvPr>
          <p:cNvSpPr txBox="1"/>
          <p:nvPr/>
        </p:nvSpPr>
        <p:spPr>
          <a:xfrm>
            <a:off x="117446" y="167781"/>
            <a:ext cx="11962701" cy="7294305"/>
          </a:xfrm>
          <a:prstGeom prst="rect">
            <a:avLst/>
          </a:prstGeom>
          <a:noFill/>
        </p:spPr>
        <p:txBody>
          <a:bodyPr wrap="square">
            <a:spAutoFit/>
          </a:bodyPr>
          <a:lstStyle/>
          <a:p>
            <a:pPr algn="l"/>
            <a:r>
              <a:rPr lang="en-US" dirty="0">
                <a:effectLst/>
              </a:rPr>
              <a:t>[13] M. Uddin, M. F. </a:t>
            </a:r>
            <a:r>
              <a:rPr lang="en-US" dirty="0" err="1">
                <a:effectLst/>
              </a:rPr>
              <a:t>Romlie</a:t>
            </a:r>
            <a:r>
              <a:rPr lang="en-US" dirty="0">
                <a:effectLst/>
              </a:rPr>
              <a:t>, M. F. Abdullah, S. Abd Halim, A. H. Abu Bakar,</a:t>
            </a:r>
            <a:br>
              <a:rPr lang="en-US" dirty="0">
                <a:effectLst/>
              </a:rPr>
            </a:br>
            <a:r>
              <a:rPr lang="en-US" dirty="0">
                <a:effectLst/>
              </a:rPr>
              <a:t>and T. Chia Kwang, “A review on peak load shaving strategies,” Renewable</a:t>
            </a:r>
            <a:br>
              <a:rPr lang="en-US" dirty="0">
                <a:effectLst/>
              </a:rPr>
            </a:br>
            <a:r>
              <a:rPr lang="en-US" dirty="0">
                <a:effectLst/>
              </a:rPr>
              <a:t>and Sustainable Energy Reviews, vol. 82, pp. 3323–3332, 2018. [Online]. Available:</a:t>
            </a:r>
            <a:br>
              <a:rPr lang="en-US" dirty="0">
                <a:effectLst/>
              </a:rPr>
            </a:br>
            <a:r>
              <a:rPr lang="en-US" dirty="0">
                <a:effectLst/>
              </a:rPr>
              <a:t>https://www.sciencedirect.com/science/article/pii/S1364032117314272</a:t>
            </a:r>
            <a:br>
              <a:rPr lang="en-US" dirty="0">
                <a:effectLst/>
              </a:rPr>
            </a:br>
            <a:endParaRPr lang="en-US" dirty="0"/>
          </a:p>
          <a:p>
            <a:pPr algn="l"/>
            <a:r>
              <a:rPr lang="en-US" b="0" i="0" dirty="0">
                <a:effectLst/>
              </a:rPr>
              <a:t>14] Z. Taylor, H. </a:t>
            </a:r>
            <a:r>
              <a:rPr lang="en-US" b="0" i="0" dirty="0" err="1">
                <a:effectLst/>
              </a:rPr>
              <a:t>Akhavan</a:t>
            </a:r>
            <a:r>
              <a:rPr lang="en-US" b="0" i="0" dirty="0">
                <a:effectLst/>
              </a:rPr>
              <a:t>-Hejazi, E. Cortez, L. Alvarez, S. Ula, M. Barth, and</a:t>
            </a:r>
            <a:br>
              <a:rPr lang="en-US" dirty="0"/>
            </a:br>
            <a:r>
              <a:rPr lang="en-US" b="0" i="0" dirty="0">
                <a:effectLst/>
              </a:rPr>
              <a:t>H. </a:t>
            </a:r>
            <a:r>
              <a:rPr lang="en-US" b="0" i="0" dirty="0" err="1">
                <a:effectLst/>
              </a:rPr>
              <a:t>Mohsenian</a:t>
            </a:r>
            <a:r>
              <a:rPr lang="en-US" b="0" i="0" dirty="0">
                <a:effectLst/>
              </a:rPr>
              <a:t>-Rad, “Customer-side </a:t>
            </a:r>
            <a:r>
              <a:rPr lang="en-US" b="0" i="0" dirty="0" err="1">
                <a:effectLst/>
              </a:rPr>
              <a:t>scada</a:t>
            </a:r>
            <a:r>
              <a:rPr lang="en-US" b="0" i="0" dirty="0">
                <a:effectLst/>
              </a:rPr>
              <a:t>-assisted large battery operation optimization</a:t>
            </a:r>
            <a:br>
              <a:rPr lang="en-US" dirty="0"/>
            </a:br>
            <a:r>
              <a:rPr lang="en-US" b="0" i="0" dirty="0">
                <a:effectLst/>
              </a:rPr>
              <a:t>for distribution feeder peak load shaving,” IEEE Transactions on Smart Grid, vol. 10,</a:t>
            </a:r>
            <a:br>
              <a:rPr lang="en-US" dirty="0"/>
            </a:br>
            <a:r>
              <a:rPr lang="en-US" b="0" i="0" dirty="0">
                <a:effectLst/>
              </a:rPr>
              <a:t>no. 1, pp. 992–1004, 2019.</a:t>
            </a:r>
          </a:p>
          <a:p>
            <a:pPr algn="l"/>
            <a:br>
              <a:rPr lang="en-US" dirty="0"/>
            </a:br>
            <a:r>
              <a:rPr lang="en-US" b="0" i="0" dirty="0">
                <a:effectLst/>
              </a:rPr>
              <a:t>[15] S. </a:t>
            </a:r>
            <a:r>
              <a:rPr lang="en-US" b="0" i="0" dirty="0" err="1">
                <a:effectLst/>
              </a:rPr>
              <a:t>Nykamp</a:t>
            </a:r>
            <a:r>
              <a:rPr lang="en-US" b="0" i="0" dirty="0">
                <a:effectLst/>
              </a:rPr>
              <a:t>, M. G. C. Bosman, A. </a:t>
            </a:r>
            <a:r>
              <a:rPr lang="en-US" b="0" i="0" dirty="0" err="1">
                <a:effectLst/>
              </a:rPr>
              <a:t>Molderink</a:t>
            </a:r>
            <a:r>
              <a:rPr lang="en-US" b="0" i="0" dirty="0">
                <a:effectLst/>
              </a:rPr>
              <a:t>, J. L. </a:t>
            </a:r>
            <a:r>
              <a:rPr lang="en-US" b="0" i="0" dirty="0" err="1">
                <a:effectLst/>
              </a:rPr>
              <a:t>Hurink</a:t>
            </a:r>
            <a:r>
              <a:rPr lang="en-US" b="0" i="0" dirty="0">
                <a:effectLst/>
              </a:rPr>
              <a:t>, and G. J. M. Smit, “Value</a:t>
            </a:r>
            <a:br>
              <a:rPr lang="en-US" dirty="0"/>
            </a:br>
            <a:r>
              <a:rPr lang="en-US" b="0" i="0" dirty="0">
                <a:effectLst/>
              </a:rPr>
              <a:t>of storage in distribution grids—competition or cooperation of stakeholders?” IEEE</a:t>
            </a:r>
            <a:br>
              <a:rPr lang="en-US" dirty="0"/>
            </a:br>
            <a:r>
              <a:rPr lang="en-US" b="0" i="0" dirty="0">
                <a:effectLst/>
              </a:rPr>
              <a:t>Transactions on Smart Grid, vol. 4, no. 3, pp. 1361–1370, 2013.</a:t>
            </a:r>
          </a:p>
          <a:p>
            <a:pPr algn="l"/>
            <a:endParaRPr lang="en-US" dirty="0"/>
          </a:p>
          <a:p>
            <a:pPr algn="l"/>
            <a:r>
              <a:rPr lang="en-US" b="0" i="0" dirty="0">
                <a:effectLst/>
              </a:rPr>
              <a:t>[16] S. Son and H. Song, “Real-time peak shaving algorithm using fuzzy wind power gen-</a:t>
            </a:r>
            <a:br>
              <a:rPr lang="en-US" dirty="0"/>
            </a:br>
            <a:r>
              <a:rPr lang="en-US" b="0" i="0" dirty="0" err="1">
                <a:effectLst/>
              </a:rPr>
              <a:t>eration</a:t>
            </a:r>
            <a:r>
              <a:rPr lang="en-US" b="0" i="0" dirty="0">
                <a:effectLst/>
              </a:rPr>
              <a:t> curves for large-scale battery energy storage systems,” International Journal of</a:t>
            </a:r>
            <a:br>
              <a:rPr lang="en-US" dirty="0"/>
            </a:br>
            <a:r>
              <a:rPr lang="en-US" b="0" i="0" dirty="0">
                <a:effectLst/>
              </a:rPr>
              <a:t>Fuzzy Logic and Intelligent Systems, vol. 14, no. 4, pp. 305–312, Dec. 2014.</a:t>
            </a:r>
          </a:p>
          <a:p>
            <a:pPr algn="l"/>
            <a:br>
              <a:rPr lang="en-US" dirty="0"/>
            </a:br>
            <a:r>
              <a:rPr lang="en-US" b="0" i="0" dirty="0">
                <a:effectLst/>
              </a:rPr>
              <a:t>[17] M. Zheng, C. J. </a:t>
            </a:r>
            <a:r>
              <a:rPr lang="en-US" b="0" i="0" dirty="0" err="1">
                <a:effectLst/>
              </a:rPr>
              <a:t>Meinrenken</a:t>
            </a:r>
            <a:r>
              <a:rPr lang="en-US" b="0" i="0" dirty="0">
                <a:effectLst/>
              </a:rPr>
              <a:t>, and K. S. Lackner, “Smart households: Dispatch</a:t>
            </a:r>
            <a:br>
              <a:rPr lang="en-US" dirty="0"/>
            </a:br>
            <a:r>
              <a:rPr lang="en-US" b="0" i="0" dirty="0">
                <a:effectLst/>
              </a:rPr>
              <a:t>strategies and economic analysis of distributed energy storage for residential peak</a:t>
            </a:r>
            <a:br>
              <a:rPr lang="en-US" dirty="0"/>
            </a:br>
            <a:r>
              <a:rPr lang="en-US" b="0" i="0" dirty="0">
                <a:effectLst/>
              </a:rPr>
              <a:t>shaving,” Applied Energy, vol. 147, no. C, pp. 246–257, 2015. [Online]. Available:</a:t>
            </a:r>
            <a:br>
              <a:rPr lang="en-US" dirty="0"/>
            </a:br>
            <a:r>
              <a:rPr lang="en-US" b="0" i="0" dirty="0">
                <a:effectLst/>
              </a:rPr>
              <a:t>https://ideas.repec.org/a/eee/appene/v147y2015icp246-257.html</a:t>
            </a:r>
            <a:br>
              <a:rPr lang="en-US" dirty="0"/>
            </a:br>
            <a:endParaRPr lang="en-US" dirty="0"/>
          </a:p>
          <a:p>
            <a:pPr algn="l"/>
            <a:endParaRPr lang="en-US" dirty="0">
              <a:effectLst/>
            </a:endParaRPr>
          </a:p>
          <a:p>
            <a:br>
              <a:rPr lang="en-US" dirty="0">
                <a:effectLst/>
              </a:rPr>
            </a:br>
            <a:endParaRPr lang="en-US" dirty="0"/>
          </a:p>
        </p:txBody>
      </p:sp>
    </p:spTree>
    <p:extLst>
      <p:ext uri="{BB962C8B-B14F-4D97-AF65-F5344CB8AC3E}">
        <p14:creationId xmlns:p14="http://schemas.microsoft.com/office/powerpoint/2010/main" val="757170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7851F4-E681-9E16-A5C2-33F99ED9C622}"/>
              </a:ext>
            </a:extLst>
          </p:cNvPr>
          <p:cNvSpPr txBox="1"/>
          <p:nvPr/>
        </p:nvSpPr>
        <p:spPr>
          <a:xfrm>
            <a:off x="159391" y="142613"/>
            <a:ext cx="11870422" cy="6463308"/>
          </a:xfrm>
          <a:prstGeom prst="rect">
            <a:avLst/>
          </a:prstGeom>
          <a:noFill/>
        </p:spPr>
        <p:txBody>
          <a:bodyPr wrap="square">
            <a:spAutoFit/>
          </a:bodyPr>
          <a:lstStyle/>
          <a:p>
            <a:pPr algn="l"/>
            <a:r>
              <a:rPr lang="en-US" b="0" i="0" dirty="0">
                <a:effectLst/>
              </a:rPr>
              <a:t>[18] B. Zhou, D. Xu, K. W. Chan, C. B. Li, Y. J. Cao, and S. Q. Bu, “A two-stage framework</a:t>
            </a:r>
            <a:br>
              <a:rPr lang="en-US" dirty="0"/>
            </a:br>
            <a:r>
              <a:rPr lang="en-US" b="0" i="0" dirty="0">
                <a:effectLst/>
              </a:rPr>
              <a:t>for </a:t>
            </a:r>
            <a:r>
              <a:rPr lang="en-US" b="0" i="0" dirty="0" err="1">
                <a:effectLst/>
              </a:rPr>
              <a:t>multiobjective</a:t>
            </a:r>
            <a:r>
              <a:rPr lang="en-US" b="0" i="0" dirty="0">
                <a:effectLst/>
              </a:rPr>
              <a:t> energy management in distribution networks with a high penetration</a:t>
            </a:r>
            <a:br>
              <a:rPr lang="en-US" dirty="0"/>
            </a:br>
            <a:r>
              <a:rPr lang="en-US" b="0" i="0" dirty="0">
                <a:effectLst/>
              </a:rPr>
              <a:t>of wind energy,” Energy, vol. 135, 2017.</a:t>
            </a:r>
          </a:p>
          <a:p>
            <a:pPr algn="l"/>
            <a:endParaRPr lang="en-US" dirty="0"/>
          </a:p>
          <a:p>
            <a:pPr algn="l"/>
            <a:r>
              <a:rPr lang="en-US" b="0" i="0" dirty="0">
                <a:effectLst/>
              </a:rPr>
              <a:t>[19] E. </a:t>
            </a:r>
            <a:r>
              <a:rPr lang="en-US" b="0" i="0" dirty="0" err="1">
                <a:effectLst/>
              </a:rPr>
              <a:t>Reihani</a:t>
            </a:r>
            <a:r>
              <a:rPr lang="en-US" b="0" i="0" dirty="0">
                <a:effectLst/>
              </a:rPr>
              <a:t>, M. </a:t>
            </a:r>
            <a:r>
              <a:rPr lang="en-US" b="0" i="0" dirty="0" err="1">
                <a:effectLst/>
              </a:rPr>
              <a:t>Motalleb</a:t>
            </a:r>
            <a:r>
              <a:rPr lang="en-US" b="0" i="0" dirty="0">
                <a:effectLst/>
              </a:rPr>
              <a:t>, R. </a:t>
            </a:r>
            <a:r>
              <a:rPr lang="en-US" b="0" i="0" dirty="0" err="1">
                <a:effectLst/>
              </a:rPr>
              <a:t>Ghorbani</a:t>
            </a:r>
            <a:r>
              <a:rPr lang="en-US" b="0" i="0" dirty="0">
                <a:effectLst/>
              </a:rPr>
              <a:t>, and L. Saad Saoud, “Load peak shaving</a:t>
            </a:r>
            <a:br>
              <a:rPr lang="en-US" dirty="0"/>
            </a:br>
            <a:r>
              <a:rPr lang="en-US" b="0" i="0" dirty="0">
                <a:effectLst/>
              </a:rPr>
              <a:t>and power smoothing of a distribution grid with high renewable energy penetration,”</a:t>
            </a:r>
            <a:br>
              <a:rPr lang="en-US" dirty="0"/>
            </a:br>
            <a:r>
              <a:rPr lang="en-US" b="0" i="0" dirty="0">
                <a:effectLst/>
              </a:rPr>
              <a:t>Renewable Energy, vol. 86, no. C, pp. 1372–1379, 2016. [Online]. Available:</a:t>
            </a:r>
            <a:br>
              <a:rPr lang="en-US" dirty="0"/>
            </a:br>
            <a:r>
              <a:rPr lang="en-US" b="0" i="0" dirty="0">
                <a:effectLst/>
                <a:hlinkClick r:id="rId2"/>
              </a:rPr>
              <a:t>https://ideas.repec.org/a/eee/renene/v86y2016icp1372-1379.html</a:t>
            </a:r>
            <a:endParaRPr lang="en-US" b="0" i="0" dirty="0">
              <a:effectLst/>
            </a:endParaRPr>
          </a:p>
          <a:p>
            <a:pPr algn="l"/>
            <a:br>
              <a:rPr lang="en-US" dirty="0"/>
            </a:br>
            <a:r>
              <a:rPr lang="en-US" b="0" i="0" dirty="0">
                <a:effectLst/>
              </a:rPr>
              <a:t>[20] Y. Guo and Z. Wang, “On peak shaving and load shifting in distribution systems: Cost</a:t>
            </a:r>
            <a:br>
              <a:rPr lang="en-US" dirty="0"/>
            </a:br>
            <a:r>
              <a:rPr lang="en-US" b="0" i="0" dirty="0">
                <a:effectLst/>
              </a:rPr>
              <a:t>saving vs peak load reduction,” in 2021 IEEE Power &amp; Energy Society General Meeting</a:t>
            </a:r>
            <a:br>
              <a:rPr lang="en-US" dirty="0"/>
            </a:br>
            <a:r>
              <a:rPr lang="en-US" b="0" i="0" dirty="0">
                <a:effectLst/>
              </a:rPr>
              <a:t>(PESGM), 2021, pp. 1–5.</a:t>
            </a:r>
          </a:p>
          <a:p>
            <a:pPr algn="l"/>
            <a:br>
              <a:rPr lang="en-US" dirty="0"/>
            </a:br>
            <a:r>
              <a:rPr lang="en-US" b="0" i="0" dirty="0">
                <a:effectLst/>
              </a:rPr>
              <a:t>[21] R. Premkumar, R. </a:t>
            </a:r>
            <a:r>
              <a:rPr lang="en-US" b="0" i="0" dirty="0" err="1">
                <a:effectLst/>
              </a:rPr>
              <a:t>Shanmugasundaram</a:t>
            </a:r>
            <a:r>
              <a:rPr lang="en-US" b="0" i="0" dirty="0">
                <a:effectLst/>
              </a:rPr>
              <a:t>, K. R. </a:t>
            </a:r>
            <a:r>
              <a:rPr lang="en-US" b="0" i="0" dirty="0" err="1">
                <a:effectLst/>
              </a:rPr>
              <a:t>Thilak</a:t>
            </a:r>
            <a:r>
              <a:rPr lang="en-US" b="0" i="0" dirty="0">
                <a:effectLst/>
              </a:rPr>
              <a:t>, and A. N. V. S. S. Balaji, “A</a:t>
            </a:r>
            <a:br>
              <a:rPr lang="en-US" dirty="0"/>
            </a:br>
            <a:r>
              <a:rPr lang="en-US" b="0" i="0" dirty="0">
                <a:effectLst/>
              </a:rPr>
              <a:t>review on demand side management: Definition, scope, challenges and benefits,” in 2022</a:t>
            </a:r>
            <a:br>
              <a:rPr lang="en-US" dirty="0"/>
            </a:br>
            <a:r>
              <a:rPr lang="en-US" b="0" i="0" dirty="0">
                <a:effectLst/>
              </a:rPr>
              <a:t>8th International Conference on Smart Structures and Systems (ICSSS), 2022, pp. 1–4.</a:t>
            </a:r>
          </a:p>
          <a:p>
            <a:pPr algn="l"/>
            <a:br>
              <a:rPr lang="en-US" dirty="0"/>
            </a:br>
            <a:r>
              <a:rPr lang="en-US" b="0" i="0" dirty="0">
                <a:effectLst/>
              </a:rPr>
              <a:t>[22] H. L. Willis, G. V. Welch, and R. R. </a:t>
            </a:r>
            <a:r>
              <a:rPr lang="en-US" b="0" i="0" dirty="0" err="1">
                <a:effectLst/>
              </a:rPr>
              <a:t>Schrieber</a:t>
            </a:r>
            <a:r>
              <a:rPr lang="en-US" b="0" i="0" dirty="0">
                <a:effectLst/>
              </a:rPr>
              <a:t>, Aging Power Delivery Infrastructures.</a:t>
            </a:r>
            <a:br>
              <a:rPr lang="en-US" dirty="0"/>
            </a:br>
            <a:r>
              <a:rPr lang="en-US" b="0" i="0" dirty="0">
                <a:effectLst/>
              </a:rPr>
              <a:t>New York: M. Dekker, 2001.</a:t>
            </a:r>
          </a:p>
          <a:p>
            <a:pPr algn="l"/>
            <a:br>
              <a:rPr lang="en-US" dirty="0"/>
            </a:br>
            <a:r>
              <a:rPr lang="en-US" b="0" i="0" dirty="0">
                <a:effectLst/>
              </a:rPr>
              <a:t>[23] A. Waltham, “Smart grid abstract: ”what are the benefits of smart grid?”,” in 2012</a:t>
            </a:r>
            <a:br>
              <a:rPr lang="en-US" dirty="0"/>
            </a:br>
            <a:r>
              <a:rPr lang="en-US" b="0" i="0" dirty="0">
                <a:effectLst/>
              </a:rPr>
              <a:t>IEEE PES Innovative Smart Grid Technologies (ISGT), 2012, pp. 1–1.</a:t>
            </a:r>
          </a:p>
          <a:p>
            <a:pPr algn="l"/>
            <a:endParaRPr lang="en-US" dirty="0"/>
          </a:p>
        </p:txBody>
      </p:sp>
    </p:spTree>
    <p:extLst>
      <p:ext uri="{BB962C8B-B14F-4D97-AF65-F5344CB8AC3E}">
        <p14:creationId xmlns:p14="http://schemas.microsoft.com/office/powerpoint/2010/main" val="598117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261B57-C01A-8125-EF6E-6E905228F51D}"/>
              </a:ext>
            </a:extLst>
          </p:cNvPr>
          <p:cNvSpPr txBox="1"/>
          <p:nvPr/>
        </p:nvSpPr>
        <p:spPr>
          <a:xfrm>
            <a:off x="109056" y="109057"/>
            <a:ext cx="11945923" cy="6463308"/>
          </a:xfrm>
          <a:prstGeom prst="rect">
            <a:avLst/>
          </a:prstGeom>
          <a:noFill/>
        </p:spPr>
        <p:txBody>
          <a:bodyPr wrap="square">
            <a:spAutoFit/>
          </a:bodyPr>
          <a:lstStyle/>
          <a:p>
            <a:pPr algn="l"/>
            <a:r>
              <a:rPr lang="en-US" b="0" i="0" dirty="0">
                <a:effectLst/>
              </a:rPr>
              <a:t>[24] P. Yeung and M. Jung, “Improving electric reliability with smart meters,” White Paper,</a:t>
            </a:r>
            <a:br>
              <a:rPr lang="en-US" dirty="0"/>
            </a:br>
            <a:r>
              <a:rPr lang="en-US" b="0" i="0" dirty="0">
                <a:effectLst/>
              </a:rPr>
              <a:t>Silver Spring Networks, Silver Spring, 2013.</a:t>
            </a:r>
          </a:p>
          <a:p>
            <a:pPr algn="l"/>
            <a:endParaRPr lang="en-US" dirty="0"/>
          </a:p>
          <a:p>
            <a:pPr algn="l"/>
            <a:r>
              <a:rPr lang="en-US" b="0" i="0" dirty="0">
                <a:effectLst/>
              </a:rPr>
              <a:t>[25] A. Arif, M. Al-Hussain, N. Al-Mutairi, E. Al-Ammar, Y. Khan, and N. Malik, “</a:t>
            </a:r>
            <a:r>
              <a:rPr lang="en-US" b="0" i="0" dirty="0" err="1">
                <a:effectLst/>
              </a:rPr>
              <a:t>Experi</a:t>
            </a:r>
            <a:r>
              <a:rPr lang="en-US" b="0" i="0" dirty="0">
                <a:effectLst/>
              </a:rPr>
              <a:t>-</a:t>
            </a:r>
            <a:br>
              <a:rPr lang="en-US" dirty="0"/>
            </a:br>
            <a:r>
              <a:rPr lang="en-US" b="0" i="0" dirty="0">
                <a:effectLst/>
              </a:rPr>
              <a:t>mental study and design of smart energy meter for the smart grid,” in 2013 International</a:t>
            </a:r>
            <a:br>
              <a:rPr lang="en-US" dirty="0"/>
            </a:br>
            <a:r>
              <a:rPr lang="en-US" b="0" i="0" dirty="0">
                <a:effectLst/>
              </a:rPr>
              <a:t>Renewable and Sustainable Energy Conference (IRSEC), 2013, pp. 515–520.</a:t>
            </a:r>
          </a:p>
          <a:p>
            <a:pPr algn="l"/>
            <a:endParaRPr lang="en-US" dirty="0"/>
          </a:p>
          <a:p>
            <a:pPr algn="l"/>
            <a:r>
              <a:rPr lang="en-US" b="0" i="0" dirty="0">
                <a:effectLst/>
              </a:rPr>
              <a:t>[26] “Smart Grid Smart City Project (SGSCP) Grid Applications Stream: Fault Detection</a:t>
            </a:r>
            <a:br>
              <a:rPr lang="en-US" dirty="0"/>
            </a:br>
            <a:r>
              <a:rPr lang="en-US" b="0" i="0" dirty="0">
                <a:effectLst/>
              </a:rPr>
              <a:t>Isolation and Restoration Monitoring and Measurement Report </a:t>
            </a:r>
            <a:r>
              <a:rPr lang="en-US" b="0" i="0" dirty="0" err="1">
                <a:effectLst/>
              </a:rPr>
              <a:t>Report</a:t>
            </a:r>
            <a:r>
              <a:rPr lang="en-US" b="0" i="0" dirty="0">
                <a:effectLst/>
              </a:rPr>
              <a:t> III,” Technical</a:t>
            </a:r>
            <a:br>
              <a:rPr lang="en-US" dirty="0"/>
            </a:br>
            <a:r>
              <a:rPr lang="en-US" b="0" i="0" dirty="0">
                <a:effectLst/>
              </a:rPr>
              <a:t>Report, 2012.</a:t>
            </a:r>
          </a:p>
          <a:p>
            <a:pPr algn="l"/>
            <a:br>
              <a:rPr lang="en-US" dirty="0"/>
            </a:br>
            <a:r>
              <a:rPr lang="en-US" b="0" i="0" dirty="0">
                <a:effectLst/>
              </a:rPr>
              <a:t>[27] H. Tram, “Technical and operation considerations in using smart metering for outage</a:t>
            </a:r>
            <a:br>
              <a:rPr lang="en-US" dirty="0"/>
            </a:br>
            <a:r>
              <a:rPr lang="en-US" b="0" i="0" dirty="0">
                <a:effectLst/>
              </a:rPr>
              <a:t>management,” in 2008 IEEE/PES Transmission and Distribution Conference and Ex-</a:t>
            </a:r>
            <a:br>
              <a:rPr lang="en-US" dirty="0"/>
            </a:br>
            <a:r>
              <a:rPr lang="en-US" b="0" i="0" dirty="0">
                <a:effectLst/>
              </a:rPr>
              <a:t>position, 2008, pp. 1–3.</a:t>
            </a:r>
          </a:p>
          <a:p>
            <a:pPr algn="l"/>
            <a:br>
              <a:rPr lang="en-US" dirty="0"/>
            </a:br>
            <a:r>
              <a:rPr lang="en-US" b="0" i="0" dirty="0">
                <a:effectLst/>
              </a:rPr>
              <a:t>[28] S. V. </a:t>
            </a:r>
            <a:r>
              <a:rPr lang="en-US" b="0" i="0" dirty="0" err="1">
                <a:effectLst/>
              </a:rPr>
              <a:t>Sreedevi</a:t>
            </a:r>
            <a:r>
              <a:rPr lang="en-US" b="0" i="0" dirty="0">
                <a:effectLst/>
              </a:rPr>
              <a:t>, P. </a:t>
            </a:r>
            <a:r>
              <a:rPr lang="en-US" b="0" i="0" dirty="0" err="1">
                <a:effectLst/>
              </a:rPr>
              <a:t>Prasannan</a:t>
            </a:r>
            <a:r>
              <a:rPr lang="en-US" b="0" i="0" dirty="0">
                <a:effectLst/>
              </a:rPr>
              <a:t>, K. </a:t>
            </a:r>
            <a:r>
              <a:rPr lang="en-US" b="0" i="0" dirty="0" err="1">
                <a:effectLst/>
              </a:rPr>
              <a:t>Jiju</a:t>
            </a:r>
            <a:r>
              <a:rPr lang="en-US" b="0" i="0" dirty="0">
                <a:effectLst/>
              </a:rPr>
              <a:t>, and I. J. Indu </a:t>
            </a:r>
            <a:r>
              <a:rPr lang="en-US" b="0" i="0" dirty="0" err="1">
                <a:effectLst/>
              </a:rPr>
              <a:t>Lekshmi</a:t>
            </a:r>
            <a:r>
              <a:rPr lang="en-US" b="0" i="0" dirty="0">
                <a:effectLst/>
              </a:rPr>
              <a:t>, “Development of </a:t>
            </a:r>
            <a:r>
              <a:rPr lang="en-US" b="0" i="0" dirty="0" err="1">
                <a:effectLst/>
              </a:rPr>
              <a:t>indige</a:t>
            </a:r>
            <a:r>
              <a:rPr lang="en-US" b="0" i="0" dirty="0">
                <a:effectLst/>
              </a:rPr>
              <a:t>-</a:t>
            </a:r>
            <a:br>
              <a:rPr lang="en-US" dirty="0"/>
            </a:br>
            <a:r>
              <a:rPr lang="en-US" b="0" i="0" dirty="0">
                <a:effectLst/>
              </a:rPr>
              <a:t>nous smart energy meter adhering </a:t>
            </a:r>
            <a:r>
              <a:rPr lang="en-US" b="0" i="0" dirty="0" err="1">
                <a:effectLst/>
              </a:rPr>
              <a:t>indian</a:t>
            </a:r>
            <a:r>
              <a:rPr lang="en-US" b="0" i="0" dirty="0">
                <a:effectLst/>
              </a:rPr>
              <a:t> standards for smart grid,” in 2020 IEEE In-</a:t>
            </a:r>
            <a:br>
              <a:rPr lang="en-US" dirty="0"/>
            </a:br>
            <a:r>
              <a:rPr lang="en-US" b="0" i="0" dirty="0" err="1">
                <a:effectLst/>
              </a:rPr>
              <a:t>ternational</a:t>
            </a:r>
            <a:r>
              <a:rPr lang="en-US" b="0" i="0" dirty="0">
                <a:effectLst/>
              </a:rPr>
              <a:t> Conference on Power Electronics, Smart Grid and Renewable Energy (PES-</a:t>
            </a:r>
            <a:br>
              <a:rPr lang="en-US" dirty="0"/>
            </a:br>
            <a:r>
              <a:rPr lang="en-US" b="0" i="0" dirty="0">
                <a:effectLst/>
              </a:rPr>
              <a:t>GRE2020), 2020, pp. 1–5.</a:t>
            </a:r>
          </a:p>
          <a:p>
            <a:pPr algn="l"/>
            <a:br>
              <a:rPr lang="en-US" dirty="0"/>
            </a:br>
            <a:r>
              <a:rPr lang="en-US" b="0" i="0" dirty="0">
                <a:effectLst/>
              </a:rPr>
              <a:t>[29] N. Sharma, A. Acharya, I. Jacob, S. </a:t>
            </a:r>
            <a:r>
              <a:rPr lang="en-US" b="0" i="0" dirty="0" err="1">
                <a:effectLst/>
              </a:rPr>
              <a:t>Yamujala</a:t>
            </a:r>
            <a:r>
              <a:rPr lang="en-US" b="0" i="0" dirty="0">
                <a:effectLst/>
              </a:rPr>
              <a:t>, V. Gupta, and R. </a:t>
            </a:r>
            <a:r>
              <a:rPr lang="en-US" b="0" i="0" dirty="0" err="1">
                <a:effectLst/>
              </a:rPr>
              <a:t>Bhakar</a:t>
            </a:r>
            <a:r>
              <a:rPr lang="en-US" b="0" i="0" dirty="0">
                <a:effectLst/>
              </a:rPr>
              <a:t>, “Major</a:t>
            </a:r>
            <a:br>
              <a:rPr lang="en-US" dirty="0"/>
            </a:br>
            <a:r>
              <a:rPr lang="en-US" b="0" i="0" dirty="0">
                <a:effectLst/>
              </a:rPr>
              <a:t>blackouts of the decade: Underlying causes, recommendations and arising challenges,”</a:t>
            </a:r>
            <a:br>
              <a:rPr lang="en-US" dirty="0"/>
            </a:br>
            <a:r>
              <a:rPr lang="en-US" b="0" i="0" dirty="0">
                <a:effectLst/>
              </a:rPr>
              <a:t>in 2021 9th IEEE International Conference on Power Systems (ICPS), 2021, pp. 1–6.</a:t>
            </a:r>
          </a:p>
        </p:txBody>
      </p:sp>
    </p:spTree>
    <p:extLst>
      <p:ext uri="{BB962C8B-B14F-4D97-AF65-F5344CB8AC3E}">
        <p14:creationId xmlns:p14="http://schemas.microsoft.com/office/powerpoint/2010/main" val="3317428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647514-CFCF-7F00-81C2-3D0BDDE9FFB3}"/>
              </a:ext>
            </a:extLst>
          </p:cNvPr>
          <p:cNvSpPr txBox="1"/>
          <p:nvPr/>
        </p:nvSpPr>
        <p:spPr>
          <a:xfrm>
            <a:off x="125835" y="100668"/>
            <a:ext cx="11920756" cy="4524315"/>
          </a:xfrm>
          <a:prstGeom prst="rect">
            <a:avLst/>
          </a:prstGeom>
          <a:noFill/>
        </p:spPr>
        <p:txBody>
          <a:bodyPr wrap="square">
            <a:spAutoFit/>
          </a:bodyPr>
          <a:lstStyle/>
          <a:p>
            <a:pPr algn="l"/>
            <a:r>
              <a:rPr lang="en-US" b="0" i="0" dirty="0">
                <a:effectLst/>
              </a:rPr>
              <a:t>[30] M. Parihar and M. Bhaskar, “Review of power system blackout,” International Journal</a:t>
            </a:r>
            <a:br>
              <a:rPr lang="en-US" b="0" i="0" dirty="0">
                <a:effectLst/>
              </a:rPr>
            </a:br>
            <a:r>
              <a:rPr lang="en-US" b="0" i="0" dirty="0">
                <a:effectLst/>
              </a:rPr>
              <a:t>of Research and Innovation in Applied Science, vol. 3, pp. 8–12, 08 2018.</a:t>
            </a:r>
          </a:p>
          <a:p>
            <a:pPr algn="l"/>
            <a:br>
              <a:rPr lang="en-US" b="0" i="0" dirty="0">
                <a:effectLst/>
              </a:rPr>
            </a:br>
            <a:r>
              <a:rPr lang="en-US" b="0" i="0" dirty="0">
                <a:effectLst/>
              </a:rPr>
              <a:t>[31] B. D. Raj, S. Kumar, S. </a:t>
            </a:r>
            <a:r>
              <a:rPr lang="en-US" b="0" i="0" dirty="0" err="1">
                <a:effectLst/>
              </a:rPr>
              <a:t>Padhi</a:t>
            </a:r>
            <a:r>
              <a:rPr lang="en-US" b="0" i="0" dirty="0">
                <a:effectLst/>
              </a:rPr>
              <a:t>, A. Sarkar, A. Mondal, and K. </a:t>
            </a:r>
            <a:r>
              <a:rPr lang="en-US" b="0" i="0" dirty="0" err="1">
                <a:effectLst/>
              </a:rPr>
              <a:t>Ramamritham</a:t>
            </a:r>
            <a:r>
              <a:rPr lang="en-US" b="0" i="0" dirty="0">
                <a:effectLst/>
              </a:rPr>
              <a:t>, “Brownout</a:t>
            </a:r>
            <a:br>
              <a:rPr lang="en-US" b="0" i="0" dirty="0">
                <a:effectLst/>
              </a:rPr>
            </a:br>
            <a:r>
              <a:rPr lang="en-US" b="0" i="0" dirty="0">
                <a:effectLst/>
              </a:rPr>
              <a:t>based blackout avoidance strategies in smart grids,” IEEE Transactions on Sustainable</a:t>
            </a:r>
            <a:br>
              <a:rPr lang="en-US" b="0" i="0" dirty="0">
                <a:effectLst/>
              </a:rPr>
            </a:br>
            <a:r>
              <a:rPr lang="en-US" b="0" i="0" dirty="0">
                <a:effectLst/>
              </a:rPr>
              <a:t>Computing, vol. 6, no. 4, pp. 586–598, 2021.</a:t>
            </a:r>
          </a:p>
          <a:p>
            <a:pPr algn="l"/>
            <a:br>
              <a:rPr lang="en-US" b="0" i="0" dirty="0">
                <a:effectLst/>
              </a:rPr>
            </a:br>
            <a:r>
              <a:rPr lang="en-US" b="0" i="0" dirty="0">
                <a:effectLst/>
              </a:rPr>
              <a:t>[32] A. Agarwal and K. </a:t>
            </a:r>
            <a:r>
              <a:rPr lang="en-US" b="0" i="0" dirty="0" err="1">
                <a:effectLst/>
              </a:rPr>
              <a:t>Khandeparkar</a:t>
            </a:r>
            <a:r>
              <a:rPr lang="en-US" b="0" i="0" dirty="0">
                <a:effectLst/>
              </a:rPr>
              <a:t>, “Distributing power limits: Mitigating</a:t>
            </a:r>
            <a:br>
              <a:rPr lang="en-US" b="0" i="0" dirty="0">
                <a:effectLst/>
              </a:rPr>
            </a:br>
            <a:r>
              <a:rPr lang="en-US" b="0" i="0" dirty="0">
                <a:effectLst/>
              </a:rPr>
              <a:t>blackout through brownout,” Sustainable Energy, Grids and Networks, vol. 26, p.</a:t>
            </a:r>
            <a:br>
              <a:rPr lang="en-US" b="0" i="0" dirty="0">
                <a:effectLst/>
              </a:rPr>
            </a:br>
            <a:r>
              <a:rPr lang="en-US" b="0" i="0" dirty="0">
                <a:effectLst/>
              </a:rPr>
              <a:t>100451, 2021. [Online]. Available: https://www.sciencedirect.com/science/article/pii/</a:t>
            </a:r>
            <a:br>
              <a:rPr lang="en-US" b="0" i="0" dirty="0">
                <a:effectLst/>
              </a:rPr>
            </a:br>
            <a:r>
              <a:rPr lang="en-US" b="0" i="0" dirty="0">
                <a:effectLst/>
              </a:rPr>
              <a:t>S2352467721000229</a:t>
            </a:r>
          </a:p>
          <a:p>
            <a:pPr algn="l"/>
            <a:br>
              <a:rPr lang="en-US" b="0" i="0" dirty="0">
                <a:effectLst/>
              </a:rPr>
            </a:br>
            <a:r>
              <a:rPr lang="en-US" b="0" i="0" dirty="0">
                <a:effectLst/>
              </a:rPr>
              <a:t>[33] “Pecan street </a:t>
            </a:r>
            <a:r>
              <a:rPr lang="en-US" b="0" i="0" dirty="0" err="1">
                <a:effectLst/>
              </a:rPr>
              <a:t>dataport</a:t>
            </a:r>
            <a:r>
              <a:rPr lang="en-US" b="0" i="0" dirty="0">
                <a:effectLst/>
              </a:rPr>
              <a:t>.” [Online]. Available: https://www.pecanstreet.org/dataport/</a:t>
            </a:r>
            <a:br>
              <a:rPr lang="en-US" b="0" i="0" dirty="0">
                <a:effectLst/>
              </a:rPr>
            </a:br>
            <a:endParaRPr lang="en-US" b="0" i="0" dirty="0">
              <a:effectLst/>
            </a:endParaRPr>
          </a:p>
          <a:p>
            <a:br>
              <a:rPr lang="en-US" b="0" i="0" dirty="0">
                <a:effectLst/>
              </a:rPr>
            </a:br>
            <a:endParaRPr lang="en-US" dirty="0"/>
          </a:p>
        </p:txBody>
      </p:sp>
    </p:spTree>
    <p:extLst>
      <p:ext uri="{BB962C8B-B14F-4D97-AF65-F5344CB8AC3E}">
        <p14:creationId xmlns:p14="http://schemas.microsoft.com/office/powerpoint/2010/main" val="1046005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3447</TotalTime>
  <Words>4451</Words>
  <Application>Microsoft Office PowerPoint</Application>
  <PresentationFormat>Widescreen</PresentationFormat>
  <Paragraphs>262</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Calibri Light</vt:lpstr>
      <vt:lpstr>Office Theme</vt:lpstr>
      <vt:lpstr>PowerPoint Presentation</vt:lpstr>
      <vt:lpstr>PowerPoint Presentation</vt:lpstr>
      <vt:lpstr>Blackout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harsh thakur</cp:lastModifiedBy>
  <cp:revision>38</cp:revision>
  <dcterms:created xsi:type="dcterms:W3CDTF">2023-06-13T09:18:59Z</dcterms:created>
  <dcterms:modified xsi:type="dcterms:W3CDTF">2023-06-26T13:24:57Z</dcterms:modified>
</cp:coreProperties>
</file>